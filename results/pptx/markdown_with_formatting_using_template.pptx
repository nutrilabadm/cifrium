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C4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93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4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96B41-9A9C-4052-8035-A8D9F5931C85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6D5DF0-20AC-462E-8CB1-8E23CDE5BF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3148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A167D8A-BD8D-9060-098D-E88B96600E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56356" y="-21902"/>
            <a:ext cx="12348356" cy="690180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7A5E47-C2E9-AEDE-8DC5-20A78071C4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6672" y="1854199"/>
            <a:ext cx="8310623" cy="1843913"/>
          </a:xfrm>
        </p:spPr>
        <p:txBody>
          <a:bodyPr anchor="b">
            <a:normAutofit/>
          </a:bodyPr>
          <a:lstStyle>
            <a:lvl1pPr algn="ctr">
              <a:defRPr sz="3600">
                <a:latin typeface="Biome" panose="020B0502040204020203" pitchFamily="34" charset="0"/>
                <a:cs typeface="Biome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9040D11-1F56-D856-9100-A0313AFFC5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86672" y="3952755"/>
            <a:ext cx="8310623" cy="928866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Biome" panose="020B0503030204020804" pitchFamily="34" charset="0"/>
                <a:cs typeface="Biome" panose="020B05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 err="1"/>
              <a:t>Цифриум</a:t>
            </a:r>
            <a:r>
              <a:rPr lang="en-US" dirty="0"/>
              <a:t>,</a:t>
            </a:r>
            <a:r>
              <a:rPr lang="ru-RU" dirty="0"/>
              <a:t> 2025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10D0D8-6CA2-A6B7-1566-55759FC66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7650A-0E3B-4BD7-8BAB-E007F1B59A9B}" type="datetime1">
              <a:rPr lang="ru-RU" smtClean="0"/>
              <a:t>14.04.2025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CFAC99-2483-B3EA-1BD2-20C6846C2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1584E8-0F47-C688-BE34-793ED12A0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CB2A66DA-CCB5-E16F-59F6-342412802777}"/>
              </a:ext>
            </a:extLst>
          </p:cNvPr>
          <p:cNvCxnSpPr/>
          <p:nvPr userDrawn="1"/>
        </p:nvCxnSpPr>
        <p:spPr>
          <a:xfrm>
            <a:off x="1932972" y="3825433"/>
            <a:ext cx="8264323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7342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B7B9182-EA09-945C-B4C1-EB6EBA3CEA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782"/>
            <a:ext cx="12192000" cy="684843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594CF4-E5EA-1639-04E3-0C93EAB73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392F46-2DFD-8ACD-83EF-44908704D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3BA0F3-870C-C6EC-CC44-6CC2E1689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F6FA4-36D9-402E-A945-AA53C61A648E}" type="datetime1">
              <a:rPr lang="ru-RU" smtClean="0"/>
              <a:t>14.04.2025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8486EF-B84E-C85C-5C13-B7DF8CDBD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8E0268-8E5B-E63A-DE2F-44FFC6F8C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36E183-E0C6-4BCE-99D6-8558BEFADDE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0000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37B1C-5B57-E4EB-FB20-8AA65CCD5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0388370-E53D-6F78-A5E2-990C86BFD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6A3C43-28A8-CD6C-9479-004E03BC1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FDE5C-2431-460B-BD76-E47106274C36}" type="datetime1">
              <a:rPr lang="ru-RU" smtClean="0"/>
              <a:t>14.04.2025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1EA661-8705-B076-50AC-24E421DC5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CD4D8E-E731-30C1-E191-2DBDE121A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264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E82901-AF04-08CA-132C-4DF9327EE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C9029F-0CCB-7C49-64BB-784EAD3CBC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926558-B14B-A58C-9CAC-C0BC808194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DE41A1B-C939-93B9-A954-A2F3B19C9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94B67-4ADF-4D3C-86EA-C3DC53863063}" type="datetime1">
              <a:rPr lang="ru-RU" smtClean="0"/>
              <a:t>14.04.2025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06D24A-F5A4-926B-572C-7B23075D2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9B04B7-6749-C638-AABB-0057D5EFB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619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E3D45D-9C34-C108-1D52-116CC77A4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E392B12-1CBA-5100-1DE0-28D3B8FF9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B9F60BF-C2B4-0557-C047-952415C45F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927DA2C-A1ED-47E8-07C8-DFAA6D66ED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5B2C83D-2082-A662-1A99-F737A5C2ED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C3B955C-34E9-658D-4F65-FE4876406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BB1D-9994-422F-B4E1-4AE863DCE9A3}" type="datetime1">
              <a:rPr lang="ru-RU" smtClean="0"/>
              <a:t>14.04.2025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7D5F469-7109-D3A8-60B3-A46F9470D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B2988FA-9149-36AD-D1EB-F23AF64FF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3104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F01D75-FCD7-0841-E868-8AD6F7D8D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D693188-5FC2-E61E-AF87-C38EF0924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41522-599E-4596-9232-F2F082473CE8}" type="datetime1">
              <a:rPr lang="ru-RU" smtClean="0"/>
              <a:t>14.04.2025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4CE5901-B0F5-4B22-39E5-7E7A15FC4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785B0D4-091C-AC1D-2FFF-318BAD668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8410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D017982-7913-94E9-A996-3D6454A52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C48A3-8464-49B7-9DE9-B0F81F5D3F86}" type="datetime1">
              <a:rPr lang="ru-RU" smtClean="0"/>
              <a:t>14.04.2025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8BF5DB7-B5D5-2F84-6609-B24EDD2F6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A6A75F-2E7B-C799-F81C-94F25307E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089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15866F-6C6D-F16F-5B7C-193F1A9D1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9DAE32-4C9D-0914-96B7-ACC1D7E14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23BD092-5640-1D87-A676-4CD2F1A6FE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1EB72DC-A4F3-EC7B-7713-557A43A1D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B33F5-67A2-41BE-9950-8D79654A846F}" type="datetime1">
              <a:rPr lang="ru-RU" smtClean="0"/>
              <a:t>14.04.2025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53D04CE-C6BB-4990-31A9-97F53F1A2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38C6CF7-03BF-66A4-126C-8BEBAF3B0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92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980CC9-2E85-DE70-175E-E3A482CDD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1E2C3C1-1887-C51C-D6ED-ECF95029C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DD970E7-C5EB-2BE2-777C-7C7E90F4F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A5D1CA-4402-ADF9-51F3-66FCF1CBE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BDF19-CD53-431C-AB0F-CAD5D3051801}" type="datetime1">
              <a:rPr lang="ru-RU" smtClean="0"/>
              <a:t>14.04.2025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B5E4B4-A77E-B3CE-7267-5A1B55758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82EE32F-9FFD-435B-E881-9929D270F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405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BCBF91-DD55-E7BF-B56F-D6FB94574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809DC85-3682-BFE7-6A67-87D2D83528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30200F-5589-68D2-9F22-E58BE18DB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B3673-A1EB-48F5-8D56-B45AE7B462D6}" type="datetime1">
              <a:rPr lang="ru-RU" smtClean="0"/>
              <a:t>14.04.2025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B9A141-8F3D-AF3F-B37A-32C345E74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C6B11F-520E-3C01-9248-80B9021CB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0014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6FD29C4-86E8-7F86-5B4A-C3ADF434B2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7D4B7A0-1A29-96D0-C070-907E9236CB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6A686F-8030-9E6C-4EDF-C7E278FED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EE63A-4CD3-4577-BA10-C3E9E7DF5D92}" type="datetime1">
              <a:rPr lang="ru-RU" smtClean="0"/>
              <a:t>14.04.2025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FA302C-4F69-BFF5-6CA5-C7E808870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C48533-4C30-C3C0-6179-954D1D26B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28296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BBEDE9-E42D-7C9A-F215-2B99D400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080"/>
            <a:ext cx="10515600" cy="821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1DA0F1D-C825-C722-7C96-88A8669EB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74830"/>
            <a:ext cx="10515600" cy="5075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C27410-4BED-54D8-D263-FACF93FCAC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8A31C6-FC4D-4C30-8A5E-77202BDC8D2F}" type="datetime1">
              <a:rPr lang="ru-RU" smtClean="0"/>
              <a:t>14.04.2025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02EC32-8CC7-5653-51A8-D5CD8136DB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8410A5-1B12-1341-B493-F19CD3E891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390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Biome" panose="020B0503030204020804" pitchFamily="34" charset="0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Biome" panose="020B0503030204020804" pitchFamily="34" charset="0"/>
          <a:ea typeface="+mn-ea"/>
          <a:cs typeface="Biome" panose="020B05030302040208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Biome" panose="020B0503030204020804" pitchFamily="34" charset="0"/>
          <a:ea typeface="+mn-ea"/>
          <a:cs typeface="Biome" panose="020B05030302040208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Biome" panose="020B0503030204020804" pitchFamily="34" charset="0"/>
          <a:ea typeface="+mn-ea"/>
          <a:cs typeface="Biome" panose="020B05030302040208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Biome" panose="020B0503030204020804" pitchFamily="34" charset="0"/>
          <a:ea typeface="+mn-ea"/>
          <a:cs typeface="Biome" panose="020B05030302040208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Biome" panose="020B0503030204020804" pitchFamily="34" charset="0"/>
          <a:ea typeface="+mn-ea"/>
          <a:cs typeface="Biome" panose="020B05030302040208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ОБЩЕСТВЕННОЕ ДВИЖЕНИЕ В РОССИИ ВО ВТОРОЙ ЧЕТВЕРТИ XIX ВЕКА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ПЛАН ЗАНЯТИЯ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[00:00-05:00] Основные направления общественной мысли
[05:00-15:00] Консервативное направление и теория официальной народности
[15:00-25:00] Либеральное направление: славянофилы и западники
[25:00-30:00] Революционное направление и тайные кружки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ОСНОВНЫЕ КОНЦЕПЦИИ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Консервативное — отрицание необходимости реформ</a:t>
            </a:r>
          </a:p>
          <a:p>
            <a:pPr/>
            <a:r>
              <a:t>• Либеральное — эволюционный путь развития через реформы</a:t>
            </a:r>
          </a:p>
          <a:p>
            <a:pPr/>
            <a:r>
              <a:t>• Радикальное — революционный путь преобразований</a:t>
            </a:r>
          </a:p>
          <a:p>
            <a:pPr/>
            <a:r>
              <a:t>• Самодержавие — основа жизни русского общества</a:t>
            </a:r>
          </a:p>
          <a:p>
            <a:pPr/>
            <a:r>
              <a:t>• Православие — ориентация на общественное благо и справедливость</a:t>
            </a:r>
          </a:p>
          <a:p>
            <a:pPr/>
            <a:r>
              <a:t>• Народность — единство народа вокруг царя, духовная связь монарха и подданных</a:t>
            </a:r>
          </a:p>
          <a:p>
            <a:r>
              <a:rPr b="1" i="0" sz="1500">
                <a:solidFill>
                  <a:srgbClr val="000000"/>
                </a:solidFill>
                <a:latin typeface="Arial"/>
              </a:rPr>
              <a:t>Славянофилы:</a:t>
            </a:r>
            <a:r>
              <a:t>Славянофилы:</a:t>
            </a:r>
            <a:r>
              <a:t>
* Развитие России по самобытному пути
* Возвращение к допетровским традициям
* Сохранение самодержавия с совещательным органом (по типу земских соборов)</a:t>
            </a:r>
          </a:p>
          <a:p>
            <a:r>
              <a:rPr b="1" i="0" sz="1500">
                <a:solidFill>
                  <a:srgbClr val="000000"/>
                </a:solidFill>
                <a:latin typeface="Arial"/>
              </a:rPr>
              <a:t>Западники:</a:t>
            </a:r>
            <a:r>
              <a:t>Западники:</a:t>
            </a:r>
            <a:r>
              <a:t>
* Европейский путь развития России
* Положительная оценка реформ Петра I
* Конституционная монархия с парламентом
* Расширение прав сословий, развитие рыночной экономики</a:t>
            </a:r>
          </a:p>
          <a:p>
            <a:pPr/>
            <a:r>
              <a:t>• Тайные кружки как форма распространения идей</a:t>
            </a:r>
          </a:p>
          <a:p>
            <a:pPr/>
            <a:r>
              <a:t>• Влияние утопического социализма</a:t>
            </a:r>
          </a:p>
          <a:p>
            <a:pPr/>
            <a:r>
              <a:t>• Идея революционного свержения самодержавия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КЛЮЧЕВЫЕ ПЕРСОНЫ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С.С. Уваров — идеолог консерватизма, автор теории официальной народности</a:t>
            </a:r>
          </a:p>
          <a:p>
            <a:pPr/>
            <a:r>
              <a:t>• Н.Г. Устрялов, М.П. Погодин — историки-консерваторы</a:t>
            </a:r>
          </a:p>
          <a:p>
            <a:pPr/>
            <a:r>
              <a:t>• Ф.В. Булгарин, Н.И. Греч, М.Н. Загоскин — писатели консервативного направления</a:t>
            </a:r>
          </a:p>
          <a:p>
            <a:pPr/>
            <a:r>
              <a:t>• А.С. Хомяков — основоположник славянофильства</a:t>
            </a:r>
          </a:p>
          <a:p>
            <a:pPr/>
            <a:r>
              <a:t>• Братья Аксаковы и Киреевские, Ю.Ф. Самарин, А.И. Кошелев</a:t>
            </a:r>
          </a:p>
          <a:p>
            <a:pPr/>
            <a:r>
              <a:t>• Т.Н. Грановский, С.М. Соловьев, К.Д. Кавелин</a:t>
            </a:r>
          </a:p>
          <a:p>
            <a:pPr/>
            <a:r>
              <a:t>• П.В. Аненков, В.П. Боткин, И.С. Тургенев</a:t>
            </a:r>
          </a:p>
          <a:p>
            <a:pPr/>
            <a:r>
              <a:t>• П.Я. Чаадаев — публицист, оказавший влияние на формирование западнической и славянофильской идеологии</a:t>
            </a:r>
          </a:p>
          <a:p>
            <a:pPr/>
            <a:r>
              <a:t>• Братья Критские — продолжатели декабристской идеологии</a:t>
            </a:r>
          </a:p>
          <a:p>
            <a:pPr/>
            <a:r>
              <a:t>• А.И. Герцен, Н.П. Огарев — разработчики теории русского социализма</a:t>
            </a:r>
          </a:p>
          <a:p>
            <a:pPr/>
            <a:r>
              <a:t>• М.В. Петрашевский, Ф.М. Достоевский, М.Е. Салтыков-Щедрин, Н.А. Спешнев — члены кружка Петрашевского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СРАВНЕНИЕ КОНЦЕПЦИЙ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286000"/>
          <a:ext cx="9144000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</a:tblGrid>
              <a:tr h="640079">
                <a:tc>
                  <a:txBody>
                    <a:bodyPr/>
                    <a:lstStyle/>
                    <a:p>
                      <a:r>
                        <a:rPr sz="1000"/>
                        <a:t>Признак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Консерваторы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Славянофилы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Западники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Революционеры</a:t>
                      </a: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000"/>
                        <a:t>Отношение к реформам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Отрицательное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Реформы сверху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Реформы сверху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Революция</a:t>
                      </a: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000"/>
                        <a:t>Отношение к самодержавию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Сохранение в неизменном виде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Сохранение с совещательным органом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Конституционная монархия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Свержение</a:t>
                      </a: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000"/>
                        <a:t>Оценка реформ Петра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Положительная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Отрицательная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Положительная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Критическая</a:t>
                      </a: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000"/>
                        <a:t>Идеал общественного устройства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Существующий строй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Допетровская Русь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Европейские государства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Социалистическое общество</a:t>
                      </a:r>
                    </a:p>
                  </a:txBody>
                  <a:tcPr/>
                </a:tc>
              </a:tr>
              <a:tr h="640084">
                <a:tc>
                  <a:txBody>
                    <a:bodyPr/>
                    <a:lstStyle/>
                    <a:p>
                      <a:r>
                        <a:rPr sz="1000"/>
                        <a:t>Метод преобразований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Не нужны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Постепенные реформы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Постепенные реформы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Революция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ДАТЫ КЛЮЧЕВЫХ СОБЫТИЙ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1830-е гг. — формулировка теории официальной народности С.С. Уваровым</a:t>
            </a:r>
          </a:p>
          <a:p>
            <a:pPr/>
            <a:r>
              <a:t>• 1830-1850-е гг. — оформление славянофильства как течения</a:t>
            </a:r>
          </a:p>
          <a:p>
            <a:pPr/>
            <a:r>
              <a:t>• 1836 г. — публикация "Философического письма" П.Я. Чаадаева в журнале "Телескоп"</a:t>
            </a:r>
          </a:p>
          <a:p>
            <a:pPr/>
            <a:r>
              <a:t>• 1826-1827 гг. — деятельность кружка братьев Критских</a:t>
            </a:r>
          </a:p>
          <a:p>
            <a:pPr/>
            <a:r>
              <a:t>• 1831-1834 гг. — деятельность кружка А.И. Герцена и Н.П. Огарева</a:t>
            </a:r>
          </a:p>
          <a:p>
            <a:pPr/>
            <a:r>
              <a:t>• 1845-1849 гг. — деятельность кружка М.В. Петрашевского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0</Words>
  <Application>Microsoft Office PowerPoint</Application>
  <PresentationFormat>Широкоэкранный</PresentationFormat>
  <Paragraphs>0</Paragraphs>
  <Slides>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0</vt:i4>
      </vt:variant>
    </vt:vector>
  </HeadingPairs>
  <TitlesOfParts>
    <vt:vector size="4" baseType="lpstr">
      <vt:lpstr>Aptos</vt:lpstr>
      <vt:lpstr>Arial</vt:lpstr>
      <vt:lpstr>Biome</vt:lpstr>
      <vt:lpstr>Тема Office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Sergey V. S</dc:creator>
  <cp:lastModifiedBy>Sergey V. S</cp:lastModifiedBy>
  <cp:revision>19</cp:revision>
  <dcterms:created xsi:type="dcterms:W3CDTF">2025-04-09T13:28:27Z</dcterms:created>
  <dcterms:modified xsi:type="dcterms:W3CDTF">2025-04-14T11:36:11Z</dcterms:modified>
</cp:coreProperties>
</file>