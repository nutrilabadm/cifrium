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212" r:id="rId2"/>
  </p:sldMasterIdLst>
  <p:notesMasterIdLst>
    <p:notesMasterId r:id="rId38"/>
  </p:notesMasterIdLst>
  <p:handoutMasterIdLst>
    <p:handoutMasterId r:id="rId39"/>
  </p:handoutMasterIdLst>
  <p:sldIdLst>
    <p:sldId id="1644" r:id="rId3"/>
    <p:sldId id="2148" r:id="rId4"/>
    <p:sldId id="2972" r:id="rId5"/>
    <p:sldId id="3475" r:id="rId6"/>
    <p:sldId id="3450" r:id="rId7"/>
    <p:sldId id="3451" r:id="rId8"/>
    <p:sldId id="3453" r:id="rId9"/>
    <p:sldId id="3452" r:id="rId10"/>
    <p:sldId id="3454" r:id="rId11"/>
    <p:sldId id="3455" r:id="rId12"/>
    <p:sldId id="1665" r:id="rId13"/>
    <p:sldId id="3456" r:id="rId14"/>
    <p:sldId id="3457" r:id="rId15"/>
    <p:sldId id="3458" r:id="rId16"/>
    <p:sldId id="3459" r:id="rId17"/>
    <p:sldId id="3474" r:id="rId18"/>
    <p:sldId id="3460" r:id="rId19"/>
    <p:sldId id="3461" r:id="rId20"/>
    <p:sldId id="3462" r:id="rId21"/>
    <p:sldId id="3463" r:id="rId22"/>
    <p:sldId id="3464" r:id="rId23"/>
    <p:sldId id="3465" r:id="rId24"/>
    <p:sldId id="3467" r:id="rId25"/>
    <p:sldId id="3468" r:id="rId26"/>
    <p:sldId id="3469" r:id="rId27"/>
    <p:sldId id="3470" r:id="rId28"/>
    <p:sldId id="3471" r:id="rId29"/>
    <p:sldId id="3472" r:id="rId30"/>
    <p:sldId id="3466" r:id="rId31"/>
    <p:sldId id="3476" r:id="rId32"/>
    <p:sldId id="3478" r:id="rId33"/>
    <p:sldId id="3480" r:id="rId34"/>
    <p:sldId id="3479" r:id="rId35"/>
    <p:sldId id="3477" r:id="rId36"/>
    <p:sldId id="2128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B359"/>
    <a:srgbClr val="3F4C55"/>
    <a:srgbClr val="5EAADE"/>
    <a:srgbClr val="38579A"/>
    <a:srgbClr val="E99BEB"/>
    <a:srgbClr val="515C63"/>
    <a:srgbClr val="31AFB5"/>
    <a:srgbClr val="223638"/>
    <a:srgbClr val="9DC75A"/>
    <a:srgbClr val="FFD2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220" autoAdjust="0"/>
  </p:normalViewPr>
  <p:slideViewPr>
    <p:cSldViewPr>
      <p:cViewPr>
        <p:scale>
          <a:sx n="75" d="100"/>
          <a:sy n="75" d="100"/>
        </p:scale>
        <p:origin x="1810" y="70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3134" y="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CDCF-B072-4CC6-B2A3-B1C4F4AE3FFA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A0187-CA69-4ACB-9811-75164F281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81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3E9E0-D922-418E-8BFA-E41C87CB1E68}" type="datetimeFigureOut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D2F9E-D167-4ED3-83EC-AE46EA34BE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2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56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127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 tIns="1548000" bIns="274320" anchor="ctr">
            <a:noAutofit/>
          </a:bodyPr>
          <a:lstStyle>
            <a:lvl1pPr marL="0" indent="0" algn="ctr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22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8927" y="1011238"/>
            <a:ext cx="4192905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10058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754748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7819" y="1011238"/>
            <a:ext cx="4192905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10058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546968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4ABE82E-78D7-4733-94E9-5735CC0D6B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15866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289574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58042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2320636"/>
            <a:ext cx="4088996" cy="224501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2320636"/>
            <a:ext cx="4088996" cy="2245014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25560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1704253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DD39DD0D-E3BB-49F3-998A-2C2354F6F31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67187" y="2856202"/>
            <a:ext cx="4088996" cy="1704253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2878712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8368362" cy="22463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5486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113227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8368362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54864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3297424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70919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20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BC5DCE-6C17-487C-A446-5447F4326B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4018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61257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70919" y="2395539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20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BC5DCE-6C17-487C-A446-5447F4326B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4018" y="1011238"/>
            <a:ext cx="2602162" cy="2170111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4048299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3EE04177-A418-4EDE-AFAA-70FD4C0A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14745"/>
            <a:ext cx="8368363" cy="491836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934A7A-7FA5-43C6-A159-14D177C076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82836" y="1011238"/>
            <a:ext cx="4088996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37F044-869D-4F91-8D7B-3374540BB0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7819" y="1011238"/>
            <a:ext cx="4088996" cy="3554412"/>
          </a:xfrm>
          <a:custGeom>
            <a:avLst/>
            <a:gdLst>
              <a:gd name="connsiteX0" fmla="*/ 0 w 8385810"/>
              <a:gd name="connsiteY0" fmla="*/ 0 h 4415790"/>
              <a:gd name="connsiteX1" fmla="*/ 8385810 w 8385810"/>
              <a:gd name="connsiteY1" fmla="*/ 0 h 4415790"/>
              <a:gd name="connsiteX2" fmla="*/ 8385810 w 8385810"/>
              <a:gd name="connsiteY2" fmla="*/ 4415790 h 4415790"/>
              <a:gd name="connsiteX3" fmla="*/ 0 w 8385810"/>
              <a:gd name="connsiteY3" fmla="*/ 4415790 h 441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5810" h="4415790">
                <a:moveTo>
                  <a:pt x="0" y="0"/>
                </a:moveTo>
                <a:lnTo>
                  <a:pt x="8385810" y="0"/>
                </a:lnTo>
                <a:lnTo>
                  <a:pt x="8385810" y="4415790"/>
                </a:lnTo>
                <a:lnTo>
                  <a:pt x="0" y="441579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9050">
            <a:noFill/>
          </a:ln>
        </p:spPr>
        <p:txBody>
          <a:bodyPr wrap="square" lIns="0" tIns="0" rIns="0" bIns="640080" anchor="b">
            <a:noAutofit/>
          </a:bodyPr>
          <a:lstStyle>
            <a:lvl1pPr algn="ctr" rtl="0">
              <a:buNone/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Image Holder</a:t>
            </a:r>
          </a:p>
        </p:txBody>
      </p:sp>
    </p:spTree>
    <p:extLst>
      <p:ext uri="{BB962C8B-B14F-4D97-AF65-F5344CB8AC3E}">
        <p14:creationId xmlns:p14="http://schemas.microsoft.com/office/powerpoint/2010/main" val="983866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DT 00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566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840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595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587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2707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DT 00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861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92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3F2A01-AA8A-45E1-9CB7-2287739B3997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0" y="1405"/>
            <a:ext cx="9144000" cy="514068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7CD9F-999C-4596-90FA-CDEB3A9AD15A}"/>
              </a:ext>
            </a:extLst>
          </p:cNvPr>
          <p:cNvSpPr txBox="1">
            <a:spLocks/>
          </p:cNvSpPr>
          <p:nvPr userDrawn="1"/>
        </p:nvSpPr>
        <p:spPr>
          <a:xfrm>
            <a:off x="22225" y="4717257"/>
            <a:ext cx="3889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4B9FE-21E6-4B09-A80A-6ECAFC8A0C01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2F3EC40D-0CCE-4FB4-8D63-3D5D112D4944}"/>
              </a:ext>
            </a:extLst>
          </p:cNvPr>
          <p:cNvSpPr txBox="1">
            <a:spLocks/>
          </p:cNvSpPr>
          <p:nvPr userDrawn="1"/>
        </p:nvSpPr>
        <p:spPr>
          <a:xfrm>
            <a:off x="388305" y="4785326"/>
            <a:ext cx="182721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</a:t>
            </a:r>
            <a:r>
              <a:rPr lang="ru-RU" sz="900" b="1" kern="1500" dirty="0">
                <a:solidFill>
                  <a:srgbClr val="3F4C55"/>
                </a:solidFill>
              </a:rPr>
              <a:t>Машинисты</a:t>
            </a:r>
            <a:r>
              <a:rPr lang="ru-RU" sz="900" b="0" kern="15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</a:t>
            </a:r>
            <a:r>
              <a:rPr lang="en-US" sz="800" dirty="0"/>
              <a:t>https://цифриум.рф</a:t>
            </a:r>
            <a:endParaRPr lang="en-US" sz="900" b="0" kern="15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57" name="Picture 56" descr="mipt-logo-273405137.png">
            <a:extLst>
              <a:ext uri="{FF2B5EF4-FFF2-40B4-BE49-F238E27FC236}">
                <a16:creationId xmlns:a16="http://schemas.microsoft.com/office/drawing/2014/main" id="{3273F81B-AD19-4057-B5E1-9853E9CF22DB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7848599" y="4701221"/>
            <a:ext cx="1273175" cy="381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5472D5-94C3-48D1-B89D-128476C053E3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088" y="4702114"/>
            <a:ext cx="1344855" cy="3810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4190" r:id="rId2"/>
    <p:sldLayoutId id="2147484215" r:id="rId3"/>
    <p:sldLayoutId id="2147484219" r:id="rId4"/>
    <p:sldLayoutId id="2147484236" r:id="rId5"/>
    <p:sldLayoutId id="2147484223" r:id="rId6"/>
    <p:sldLayoutId id="2147484220" r:id="rId7"/>
    <p:sldLayoutId id="2147484235" r:id="rId8"/>
    <p:sldLayoutId id="2147484237" r:id="rId9"/>
    <p:sldLayoutId id="2147484221" r:id="rId10"/>
    <p:sldLayoutId id="2147484222" r:id="rId11"/>
    <p:sldLayoutId id="2147484225" r:id="rId12"/>
    <p:sldLayoutId id="2147484238" r:id="rId13"/>
    <p:sldLayoutId id="2147484224" r:id="rId14"/>
    <p:sldLayoutId id="2147484211" r:id="rId15"/>
    <p:sldLayoutId id="2147484226" r:id="rId16"/>
    <p:sldLayoutId id="2147484227" r:id="rId17"/>
    <p:sldLayoutId id="2147484228" r:id="rId18"/>
    <p:sldLayoutId id="2147484229" r:id="rId19"/>
    <p:sldLayoutId id="2147484230" r:id="rId2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DA48A35-94A1-47E9-A50D-74A187991333}"/>
              </a:ext>
            </a:extLst>
          </p:cNvPr>
          <p:cNvSpPr txBox="1">
            <a:spLocks/>
          </p:cNvSpPr>
          <p:nvPr userDrawn="1"/>
        </p:nvSpPr>
        <p:spPr>
          <a:xfrm>
            <a:off x="22225" y="4717257"/>
            <a:ext cx="38894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0316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14B9FE-21E6-4B09-A80A-6ECAFC8A0C01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159C8A9-F0D2-4FAC-AABC-086C772B4E73}"/>
              </a:ext>
            </a:extLst>
          </p:cNvPr>
          <p:cNvSpPr txBox="1">
            <a:spLocks/>
          </p:cNvSpPr>
          <p:nvPr userDrawn="1"/>
        </p:nvSpPr>
        <p:spPr>
          <a:xfrm>
            <a:off x="388305" y="4785326"/>
            <a:ext cx="1827210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900" b="0" kern="1500" dirty="0">
                <a:solidFill>
                  <a:schemeClr val="bg1">
                    <a:lumMod val="75000"/>
                  </a:schemeClr>
                </a:solidFill>
              </a:rPr>
              <a:t>| SlideSalad.com</a:t>
            </a:r>
          </a:p>
        </p:txBody>
      </p:sp>
    </p:spTree>
    <p:extLst>
      <p:ext uri="{BB962C8B-B14F-4D97-AF65-F5344CB8AC3E}">
        <p14:creationId xmlns:p14="http://schemas.microsoft.com/office/powerpoint/2010/main" val="400986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huggingface.co/reedmayhew/claude-3.7-sonnet-reasoning-gemma3-12B/tree/main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8E741C-A9EE-4A74-A927-BDB98F4FF324}"/>
              </a:ext>
            </a:extLst>
          </p:cNvPr>
          <p:cNvSpPr/>
          <p:nvPr/>
        </p:nvSpPr>
        <p:spPr bwMode="auto">
          <a:xfrm>
            <a:off x="398834" y="258755"/>
            <a:ext cx="8364166" cy="4313245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31866C1-E985-4998-AD08-A2431116BA89}"/>
              </a:ext>
            </a:extLst>
          </p:cNvPr>
          <p:cNvSpPr txBox="1">
            <a:spLocks/>
          </p:cNvSpPr>
          <p:nvPr/>
        </p:nvSpPr>
        <p:spPr>
          <a:xfrm>
            <a:off x="161317" y="619732"/>
            <a:ext cx="8821366" cy="98488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 err="1">
                <a:solidFill>
                  <a:schemeClr val="bg1"/>
                </a:solidFill>
              </a:rPr>
              <a:t>Цифриум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ru-RU" sz="3200" b="1" dirty="0">
                <a:solidFill>
                  <a:schemeClr val="bg1"/>
                </a:solidFill>
              </a:rPr>
              <a:t>Сервис конспектирования видеозаписей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5A98F2B-CF89-4350-9792-CFB3F3776E66}"/>
              </a:ext>
            </a:extLst>
          </p:cNvPr>
          <p:cNvSpPr txBox="1">
            <a:spLocks/>
          </p:cNvSpPr>
          <p:nvPr/>
        </p:nvSpPr>
        <p:spPr>
          <a:xfrm>
            <a:off x="685800" y="1647844"/>
            <a:ext cx="7772400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1"/>
                </a:solidFill>
              </a:rPr>
              <a:t>Машинисты (Команда 2)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Inhaltsplatzhalter 4">
            <a:extLst>
              <a:ext uri="{FF2B5EF4-FFF2-40B4-BE49-F238E27FC236}">
                <a16:creationId xmlns:a16="http://schemas.microsoft.com/office/drawing/2014/main" id="{5B9CD528-1448-46CD-9650-F72FF5761ED2}"/>
              </a:ext>
            </a:extLst>
          </p:cNvPr>
          <p:cNvSpPr txBox="1">
            <a:spLocks/>
          </p:cNvSpPr>
          <p:nvPr/>
        </p:nvSpPr>
        <p:spPr>
          <a:xfrm>
            <a:off x="2855501" y="2183514"/>
            <a:ext cx="5654040" cy="18004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400" b="1" dirty="0">
                <a:latin typeface="+mj-lt"/>
              </a:rPr>
              <a:t>Машинисты:</a:t>
            </a:r>
            <a:endParaRPr lang="en-US" sz="1400" b="1" dirty="0">
              <a:latin typeface="+mj-lt"/>
            </a:endParaRPr>
          </a:p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400" dirty="0">
                <a:latin typeface="+mj-lt"/>
              </a:rPr>
              <a:t>Павлушкин Вячеслав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Яровой Александр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Савинский Сергей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Шарипов Булат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Григорьев Георгий, </a:t>
            </a:r>
            <a:r>
              <a:rPr lang="en-US" sz="1400" dirty="0">
                <a:latin typeface="+mj-lt"/>
              </a:rPr>
              <a:t>PhD</a:t>
            </a:r>
            <a:br>
              <a:rPr lang="ru-RU" sz="1400" dirty="0">
                <a:latin typeface="+mj-lt"/>
              </a:rPr>
            </a:br>
            <a:r>
              <a:rPr lang="ru-RU" sz="1400" dirty="0">
                <a:latin typeface="+mj-lt"/>
              </a:rPr>
              <a:t>Филатов Сергей</a:t>
            </a:r>
            <a:br>
              <a:rPr lang="ru-RU" sz="1400" dirty="0">
                <a:latin typeface="+mj-lt"/>
              </a:rPr>
            </a:br>
            <a:endParaRPr lang="en-US" sz="1400" dirty="0">
              <a:latin typeface="+mj-lt"/>
            </a:endParaRPr>
          </a:p>
        </p:txBody>
      </p:sp>
      <p:sp>
        <p:nvSpPr>
          <p:cNvPr id="2" name="Inhaltsplatzhalter 4">
            <a:extLst>
              <a:ext uri="{FF2B5EF4-FFF2-40B4-BE49-F238E27FC236}">
                <a16:creationId xmlns:a16="http://schemas.microsoft.com/office/drawing/2014/main" id="{5AF3015A-7277-4100-860E-EAB3587D382F}"/>
              </a:ext>
            </a:extLst>
          </p:cNvPr>
          <p:cNvSpPr txBox="1">
            <a:spLocks/>
          </p:cNvSpPr>
          <p:nvPr/>
        </p:nvSpPr>
        <p:spPr>
          <a:xfrm>
            <a:off x="3107718" y="4156917"/>
            <a:ext cx="2946398" cy="18466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ru-RU" sz="1200" i="1" dirty="0">
                <a:latin typeface="+mj-lt"/>
              </a:rPr>
              <a:t>Дата</a:t>
            </a:r>
            <a:r>
              <a:rPr lang="en-US" sz="1200" i="1" dirty="0">
                <a:latin typeface="+mj-lt"/>
              </a:rPr>
              <a:t>: </a:t>
            </a:r>
            <a:r>
              <a:rPr lang="ru-RU" sz="1200" i="1" dirty="0">
                <a:latin typeface="+mj-lt"/>
              </a:rPr>
              <a:t>29</a:t>
            </a:r>
            <a:r>
              <a:rPr lang="en-US" sz="1200" i="1" dirty="0">
                <a:latin typeface="+mj-lt"/>
              </a:rPr>
              <a:t>/</a:t>
            </a:r>
            <a:r>
              <a:rPr lang="ru-RU" sz="1200" i="1" dirty="0">
                <a:latin typeface="+mj-lt"/>
              </a:rPr>
              <a:t>04</a:t>
            </a:r>
            <a:r>
              <a:rPr lang="en-US" sz="1200" i="1" dirty="0">
                <a:latin typeface="+mj-lt"/>
              </a:rPr>
              <a:t>/</a:t>
            </a:r>
            <a:r>
              <a:rPr lang="ru-RU" sz="1200" i="1" dirty="0">
                <a:latin typeface="+mj-lt"/>
              </a:rPr>
              <a:t>2025</a:t>
            </a:r>
            <a:endParaRPr lang="en-US" sz="12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306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8237-7087-443E-BB01-F471C15F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ru-RU" dirty="0"/>
              <a:t>Оглавление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65331C-4E68-4419-B79C-55B20DCC2743}"/>
              </a:ext>
            </a:extLst>
          </p:cNvPr>
          <p:cNvSpPr/>
          <p:nvPr/>
        </p:nvSpPr>
        <p:spPr bwMode="auto">
          <a:xfrm>
            <a:off x="1079659" y="1011238"/>
            <a:ext cx="3413761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Контекст. Задачи. 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8FCF6F-3102-4F66-B2F6-290EF2029949}"/>
              </a:ext>
            </a:extLst>
          </p:cNvPr>
          <p:cNvSpPr/>
          <p:nvPr/>
        </p:nvSpPr>
        <p:spPr bwMode="auto">
          <a:xfrm>
            <a:off x="383382" y="1011238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282610-9F5B-487F-AABD-1319510B7D02}"/>
              </a:ext>
            </a:extLst>
          </p:cNvPr>
          <p:cNvSpPr/>
          <p:nvPr/>
        </p:nvSpPr>
        <p:spPr bwMode="auto">
          <a:xfrm>
            <a:off x="1079658" y="1752312"/>
            <a:ext cx="3413761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Роли в команде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BF720-9906-4FED-9A54-9D7C573E869C}"/>
              </a:ext>
            </a:extLst>
          </p:cNvPr>
          <p:cNvSpPr/>
          <p:nvPr/>
        </p:nvSpPr>
        <p:spPr bwMode="auto">
          <a:xfrm>
            <a:off x="383382" y="1752312"/>
            <a:ext cx="594360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B11EBD-4956-4773-81E9-5DA67DC76CAD}"/>
              </a:ext>
            </a:extLst>
          </p:cNvPr>
          <p:cNvSpPr/>
          <p:nvPr/>
        </p:nvSpPr>
        <p:spPr bwMode="auto">
          <a:xfrm>
            <a:off x="1079658" y="249338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требований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8F0A1D-BBC9-4D84-83D8-F6D4DA79C80D}"/>
              </a:ext>
            </a:extLst>
          </p:cNvPr>
          <p:cNvSpPr/>
          <p:nvPr/>
        </p:nvSpPr>
        <p:spPr bwMode="auto">
          <a:xfrm>
            <a:off x="383382" y="249338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III.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D9C137-9990-44BB-AD8A-731C7B7A2C72}"/>
              </a:ext>
            </a:extLst>
          </p:cNvPr>
          <p:cNvSpPr/>
          <p:nvPr/>
        </p:nvSpPr>
        <p:spPr bwMode="auto">
          <a:xfrm>
            <a:off x="1079658" y="3234461"/>
            <a:ext cx="3413761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сервиса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57FAD2-957B-42C1-9B67-EBA0FCB0E5CB}"/>
              </a:ext>
            </a:extLst>
          </p:cNvPr>
          <p:cNvSpPr/>
          <p:nvPr/>
        </p:nvSpPr>
        <p:spPr bwMode="auto">
          <a:xfrm>
            <a:off x="383382" y="3234461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IV.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1C3E58-9CB0-43F7-9A42-509DC4A8850E}"/>
              </a:ext>
            </a:extLst>
          </p:cNvPr>
          <p:cNvSpPr/>
          <p:nvPr/>
        </p:nvSpPr>
        <p:spPr bwMode="auto">
          <a:xfrm>
            <a:off x="1079658" y="3975535"/>
            <a:ext cx="3413761" cy="590114"/>
          </a:xfrm>
          <a:prstGeom prst="rect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Формулировка признаков решения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51CD14-65D1-411C-AFB3-26CF4762FD47}"/>
              </a:ext>
            </a:extLst>
          </p:cNvPr>
          <p:cNvSpPr/>
          <p:nvPr/>
        </p:nvSpPr>
        <p:spPr bwMode="auto">
          <a:xfrm>
            <a:off x="383382" y="3975535"/>
            <a:ext cx="594360" cy="590114"/>
          </a:xfrm>
          <a:prstGeom prst="rect">
            <a:avLst/>
          </a:pr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E4C88D-BC94-4EC4-A69D-89ACB0D4B574}"/>
              </a:ext>
            </a:extLst>
          </p:cNvPr>
          <p:cNvSpPr/>
          <p:nvPr/>
        </p:nvSpPr>
        <p:spPr bwMode="auto">
          <a:xfrm>
            <a:off x="5346858" y="1011238"/>
            <a:ext cx="3413761" cy="59011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Программный стек. Ресурсы.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7CF313-A8DA-42FA-B05B-C2B91FE0E3C6}"/>
              </a:ext>
            </a:extLst>
          </p:cNvPr>
          <p:cNvSpPr/>
          <p:nvPr/>
        </p:nvSpPr>
        <p:spPr bwMode="auto">
          <a:xfrm>
            <a:off x="4650581" y="1011238"/>
            <a:ext cx="594360" cy="590114"/>
          </a:xfrm>
          <a:prstGeom prst="rect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C70C6F-63F5-426E-A1AF-AB9E6C148574}"/>
              </a:ext>
            </a:extLst>
          </p:cNvPr>
          <p:cNvSpPr/>
          <p:nvPr/>
        </p:nvSpPr>
        <p:spPr bwMode="auto">
          <a:xfrm>
            <a:off x="5346857" y="1752312"/>
            <a:ext cx="3413761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Примеры исходных материалов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0185EC-39BF-4619-98D1-2D31AD83B351}"/>
              </a:ext>
            </a:extLst>
          </p:cNvPr>
          <p:cNvSpPr/>
          <p:nvPr/>
        </p:nvSpPr>
        <p:spPr bwMode="auto">
          <a:xfrm>
            <a:off x="4650581" y="1752312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VII.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265DD3-378D-4B90-B03A-50C2EC7AA0E8}"/>
              </a:ext>
            </a:extLst>
          </p:cNvPr>
          <p:cNvSpPr/>
          <p:nvPr/>
        </p:nvSpPr>
        <p:spPr bwMode="auto">
          <a:xfrm>
            <a:off x="5346857" y="2493387"/>
            <a:ext cx="3413761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Формулирование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Промпта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4D5900-19EB-46A3-AD76-3EC0BF3FD892}"/>
              </a:ext>
            </a:extLst>
          </p:cNvPr>
          <p:cNvSpPr/>
          <p:nvPr/>
        </p:nvSpPr>
        <p:spPr bwMode="auto">
          <a:xfrm>
            <a:off x="4650581" y="2493387"/>
            <a:ext cx="594360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VIII.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FE5913-25F5-47C0-B7AE-426F1933C304}"/>
              </a:ext>
            </a:extLst>
          </p:cNvPr>
          <p:cNvSpPr/>
          <p:nvPr/>
        </p:nvSpPr>
        <p:spPr bwMode="auto">
          <a:xfrm>
            <a:off x="5346857" y="3234461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8ECE9F-E645-4DF0-BF6E-74AADFFD7BA6}"/>
              </a:ext>
            </a:extLst>
          </p:cNvPr>
          <p:cNvSpPr/>
          <p:nvPr/>
        </p:nvSpPr>
        <p:spPr bwMode="auto">
          <a:xfrm>
            <a:off x="4650581" y="3234461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50CB0E-8490-4EE0-927A-ACAAB5C2FC10}"/>
              </a:ext>
            </a:extLst>
          </p:cNvPr>
          <p:cNvSpPr/>
          <p:nvPr/>
        </p:nvSpPr>
        <p:spPr bwMode="auto">
          <a:xfrm>
            <a:off x="5346857" y="3975535"/>
            <a:ext cx="3413761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Анализ результатов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D321FD-02AC-48FA-B47C-E41F380053B5}"/>
              </a:ext>
            </a:extLst>
          </p:cNvPr>
          <p:cNvSpPr/>
          <p:nvPr/>
        </p:nvSpPr>
        <p:spPr bwMode="auto">
          <a:xfrm>
            <a:off x="4650581" y="3975535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133748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227015A-6B6B-4E53-B692-C9F930823FC6}"/>
              </a:ext>
            </a:extLst>
          </p:cNvPr>
          <p:cNvSpPr/>
          <p:nvPr/>
        </p:nvSpPr>
        <p:spPr bwMode="auto">
          <a:xfrm>
            <a:off x="387350" y="1011239"/>
            <a:ext cx="1517650" cy="1691533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D4F333B-8840-45C3-A05F-6E673038BE46}"/>
              </a:ext>
            </a:extLst>
          </p:cNvPr>
          <p:cNvSpPr/>
          <p:nvPr/>
        </p:nvSpPr>
        <p:spPr bwMode="auto">
          <a:xfrm>
            <a:off x="1905000" y="1011239"/>
            <a:ext cx="6851182" cy="169153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Контекст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 err="1">
                <a:effectLst/>
              </a:rPr>
              <a:t>Цифриум</a:t>
            </a:r>
            <a:r>
              <a:rPr lang="ru-RU" sz="1100" dirty="0">
                <a:effectLst/>
              </a:rPr>
              <a:t> — российская </a:t>
            </a:r>
            <a:r>
              <a:rPr lang="ru-RU" sz="1100" dirty="0" err="1">
                <a:effectLst/>
              </a:rPr>
              <a:t>EdTech</a:t>
            </a:r>
            <a:r>
              <a:rPr lang="ru-RU" sz="1100" dirty="0">
                <a:effectLst/>
              </a:rPr>
              <a:t>-компания, которая реализует задачи по повышению качества и доступности образования в России, а также помогает школам и учителям использовать современные цифровые </a:t>
            </a:r>
            <a:r>
              <a:rPr lang="ru-RU" sz="1100" dirty="0" err="1">
                <a:effectLst/>
              </a:rPr>
              <a:t>технологии.На</a:t>
            </a:r>
            <a:r>
              <a:rPr lang="ru-RU" sz="1100" dirty="0">
                <a:effectLst/>
              </a:rPr>
              <a:t> платформе </a:t>
            </a:r>
            <a:r>
              <a:rPr lang="ru-RU" sz="1100" dirty="0" err="1">
                <a:effectLst/>
              </a:rPr>
              <a:t>Цифриум</a:t>
            </a:r>
            <a:r>
              <a:rPr lang="ru-RU" sz="1100" dirty="0">
                <a:effectLst/>
              </a:rPr>
              <a:t> проводится множество вебинаров, к каждому из которых преподаватели или методисты составляют конспект </a:t>
            </a:r>
            <a:r>
              <a:rPr lang="ru-RU" sz="1100" dirty="0" err="1">
                <a:effectLst/>
              </a:rPr>
              <a:t>занятия.Основная</a:t>
            </a:r>
            <a:r>
              <a:rPr lang="ru-RU" sz="1100" dirty="0">
                <a:effectLst/>
              </a:rPr>
              <a:t> цель – экономия времени и ресурсов преподавателей и методистов за </a:t>
            </a:r>
            <a:r>
              <a:rPr lang="ru-RU" sz="1100" dirty="0" err="1">
                <a:effectLst/>
              </a:rPr>
              <a:t>счет</a:t>
            </a:r>
            <a:r>
              <a:rPr lang="ru-RU" sz="1100" dirty="0">
                <a:effectLst/>
              </a:rPr>
              <a:t> автоматизации.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08809A6-5E4F-44C4-B518-8C1D4832FAEA}"/>
              </a:ext>
            </a:extLst>
          </p:cNvPr>
          <p:cNvSpPr/>
          <p:nvPr/>
        </p:nvSpPr>
        <p:spPr bwMode="auto">
          <a:xfrm>
            <a:off x="387350" y="2874117"/>
            <a:ext cx="1517650" cy="1691533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701A00-8CF8-467F-815E-77CFD0DA7F71}"/>
              </a:ext>
            </a:extLst>
          </p:cNvPr>
          <p:cNvSpPr/>
          <p:nvPr/>
        </p:nvSpPr>
        <p:spPr bwMode="auto">
          <a:xfrm>
            <a:off x="1905000" y="2874117"/>
            <a:ext cx="6851182" cy="169153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Задачи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Реализовать сервис для подготовки преподавателем конспекта лекции на основе видео длительность от 3 до 60 минут </a:t>
            </a:r>
            <a:endParaRPr lang="en-US" sz="110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Сервис может быть реализован как в </a:t>
            </a:r>
            <a:r>
              <a:rPr lang="ru-RU" sz="1100" dirty="0" err="1">
                <a:effectLst/>
              </a:rPr>
              <a:t>jupiter</a:t>
            </a:r>
            <a:r>
              <a:rPr lang="ru-RU" sz="1100" dirty="0">
                <a:effectLst/>
              </a:rPr>
              <a:t> </a:t>
            </a:r>
            <a:r>
              <a:rPr lang="ru-RU" sz="1100" dirty="0" err="1">
                <a:effectLst/>
              </a:rPr>
              <a:t>notebook</a:t>
            </a:r>
            <a:r>
              <a:rPr lang="ru-RU" sz="1100" dirty="0">
                <a:effectLst/>
              </a:rPr>
              <a:t> , так и в виде </a:t>
            </a:r>
            <a:r>
              <a:rPr lang="ru-RU" sz="1100" dirty="0" err="1">
                <a:effectLst/>
              </a:rPr>
              <a:t>web</a:t>
            </a:r>
            <a:r>
              <a:rPr lang="ru-RU" sz="1100" dirty="0">
                <a:effectLst/>
              </a:rPr>
              <a:t> сайта или API к сервису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410AFF-5160-4E2F-BB1D-CA37D4694BF8}"/>
              </a:ext>
            </a:extLst>
          </p:cNvPr>
          <p:cNvGrpSpPr/>
          <p:nvPr/>
        </p:nvGrpSpPr>
        <p:grpSpPr>
          <a:xfrm>
            <a:off x="663252" y="1461080"/>
            <a:ext cx="965846" cy="791850"/>
            <a:chOff x="1143000" y="1581150"/>
            <a:chExt cx="687108" cy="563327"/>
          </a:xfrm>
          <a:solidFill>
            <a:schemeClr val="bg1"/>
          </a:solidFill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10F4B83-71BB-452D-ACFA-6158D0CF7F35}"/>
                </a:ext>
              </a:extLst>
            </p:cNvPr>
            <p:cNvGrpSpPr/>
            <p:nvPr/>
          </p:nvGrpSpPr>
          <p:grpSpPr>
            <a:xfrm>
              <a:off x="1143000" y="1581150"/>
              <a:ext cx="687108" cy="563327"/>
              <a:chOff x="2947396" y="133351"/>
              <a:chExt cx="4000548" cy="3279856"/>
            </a:xfrm>
            <a:grpFill/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1B691723-C253-4461-9750-A6D8A87EDE0F}"/>
                  </a:ext>
                </a:extLst>
              </p:cNvPr>
              <p:cNvSpPr/>
              <p:nvPr/>
            </p:nvSpPr>
            <p:spPr>
              <a:xfrm>
                <a:off x="3882083" y="133351"/>
                <a:ext cx="2131153" cy="3279856"/>
              </a:xfrm>
              <a:custGeom>
                <a:avLst/>
                <a:gdLst>
                  <a:gd name="connsiteX0" fmla="*/ 506703 w 2131153"/>
                  <a:gd name="connsiteY0" fmla="*/ 2252937 h 3279856"/>
                  <a:gd name="connsiteX1" fmla="*/ 332357 w 2131153"/>
                  <a:gd name="connsiteY1" fmla="*/ 2531220 h 3279856"/>
                  <a:gd name="connsiteX2" fmla="*/ 539707 w 2131153"/>
                  <a:gd name="connsiteY2" fmla="*/ 2822961 h 3279856"/>
                  <a:gd name="connsiteX3" fmla="*/ 539707 w 2131153"/>
                  <a:gd name="connsiteY3" fmla="*/ 2964826 h 3279856"/>
                  <a:gd name="connsiteX4" fmla="*/ 854451 w 2131153"/>
                  <a:gd name="connsiteY4" fmla="*/ 3279856 h 3279856"/>
                  <a:gd name="connsiteX5" fmla="*/ 1276437 w 2131153"/>
                  <a:gd name="connsiteY5" fmla="*/ 3279856 h 3279856"/>
                  <a:gd name="connsiteX6" fmla="*/ 1591457 w 2131153"/>
                  <a:gd name="connsiteY6" fmla="*/ 2964826 h 3279856"/>
                  <a:gd name="connsiteX7" fmla="*/ 1591457 w 2131153"/>
                  <a:gd name="connsiteY7" fmla="*/ 2822961 h 3279856"/>
                  <a:gd name="connsiteX8" fmla="*/ 1798807 w 2131153"/>
                  <a:gd name="connsiteY8" fmla="*/ 2531220 h 3279856"/>
                  <a:gd name="connsiteX9" fmla="*/ 1624452 w 2131153"/>
                  <a:gd name="connsiteY9" fmla="*/ 2252928 h 3279856"/>
                  <a:gd name="connsiteX10" fmla="*/ 1839641 w 2131153"/>
                  <a:gd name="connsiteY10" fmla="*/ 1861574 h 3279856"/>
                  <a:gd name="connsiteX11" fmla="*/ 2131153 w 2131153"/>
                  <a:gd name="connsiteY11" fmla="*/ 1092687 h 3279856"/>
                  <a:gd name="connsiteX12" fmla="*/ 2127077 w 2131153"/>
                  <a:gd name="connsiteY12" fmla="*/ 991446 h 3279856"/>
                  <a:gd name="connsiteX13" fmla="*/ 2024569 w 2131153"/>
                  <a:gd name="connsiteY13" fmla="*/ 904045 h 3279856"/>
                  <a:gd name="connsiteX14" fmla="*/ 1937177 w 2131153"/>
                  <a:gd name="connsiteY14" fmla="*/ 1006553 h 3279856"/>
                  <a:gd name="connsiteX15" fmla="*/ 1940653 w 2131153"/>
                  <a:gd name="connsiteY15" fmla="*/ 1092764 h 3279856"/>
                  <a:gd name="connsiteX16" fmla="*/ 1686117 w 2131153"/>
                  <a:gd name="connsiteY16" fmla="*/ 1748770 h 3279856"/>
                  <a:gd name="connsiteX17" fmla="*/ 1435600 w 2131153"/>
                  <a:gd name="connsiteY17" fmla="*/ 2221848 h 3279856"/>
                  <a:gd name="connsiteX18" fmla="*/ 695526 w 2131153"/>
                  <a:gd name="connsiteY18" fmla="*/ 2221848 h 3279856"/>
                  <a:gd name="connsiteX19" fmla="*/ 444962 w 2131153"/>
                  <a:gd name="connsiteY19" fmla="*/ 1748808 h 3279856"/>
                  <a:gd name="connsiteX20" fmla="*/ 190482 w 2131153"/>
                  <a:gd name="connsiteY20" fmla="*/ 1092792 h 3279856"/>
                  <a:gd name="connsiteX21" fmla="*/ 450610 w 2131153"/>
                  <a:gd name="connsiteY21" fmla="*/ 438206 h 3279856"/>
                  <a:gd name="connsiteX22" fmla="*/ 1064220 w 2131153"/>
                  <a:gd name="connsiteY22" fmla="*/ 190556 h 3279856"/>
                  <a:gd name="connsiteX23" fmla="*/ 1066954 w 2131153"/>
                  <a:gd name="connsiteY23" fmla="*/ 190556 h 3279856"/>
                  <a:gd name="connsiteX24" fmla="*/ 1589143 w 2131153"/>
                  <a:gd name="connsiteY24" fmla="*/ 360091 h 3279856"/>
                  <a:gd name="connsiteX25" fmla="*/ 1722359 w 2131153"/>
                  <a:gd name="connsiteY25" fmla="*/ 340127 h 3279856"/>
                  <a:gd name="connsiteX26" fmla="*/ 1702395 w 2131153"/>
                  <a:gd name="connsiteY26" fmla="*/ 206910 h 3279856"/>
                  <a:gd name="connsiteX27" fmla="*/ 1065563 w 2131153"/>
                  <a:gd name="connsiteY27" fmla="*/ 84 h 3279856"/>
                  <a:gd name="connsiteX28" fmla="*/ 316965 w 2131153"/>
                  <a:gd name="connsiteY28" fmla="*/ 302503 h 3279856"/>
                  <a:gd name="connsiteX29" fmla="*/ 1 w 2131153"/>
                  <a:gd name="connsiteY29" fmla="*/ 1092573 h 3279856"/>
                  <a:gd name="connsiteX30" fmla="*/ 291485 w 2131153"/>
                  <a:gd name="connsiteY30" fmla="*/ 1861660 h 3279856"/>
                  <a:gd name="connsiteX31" fmla="*/ 506703 w 2131153"/>
                  <a:gd name="connsiteY31" fmla="*/ 2252937 h 3279856"/>
                  <a:gd name="connsiteX32" fmla="*/ 1400967 w 2131153"/>
                  <a:gd name="connsiteY32" fmla="*/ 2964836 h 3279856"/>
                  <a:gd name="connsiteX33" fmla="*/ 1276447 w 2131153"/>
                  <a:gd name="connsiteY33" fmla="*/ 3089366 h 3279856"/>
                  <a:gd name="connsiteX34" fmla="*/ 854460 w 2131153"/>
                  <a:gd name="connsiteY34" fmla="*/ 3089366 h 3279856"/>
                  <a:gd name="connsiteX35" fmla="*/ 730216 w 2131153"/>
                  <a:gd name="connsiteY35" fmla="*/ 2964836 h 3279856"/>
                  <a:gd name="connsiteX36" fmla="*/ 730216 w 2131153"/>
                  <a:gd name="connsiteY36" fmla="*/ 2840316 h 3279856"/>
                  <a:gd name="connsiteX37" fmla="*/ 1400967 w 2131153"/>
                  <a:gd name="connsiteY37" fmla="*/ 2840316 h 3279856"/>
                  <a:gd name="connsiteX38" fmla="*/ 641710 w 2131153"/>
                  <a:gd name="connsiteY38" fmla="*/ 2412367 h 3279856"/>
                  <a:gd name="connsiteX39" fmla="*/ 1489464 w 2131153"/>
                  <a:gd name="connsiteY39" fmla="*/ 2412367 h 3279856"/>
                  <a:gd name="connsiteX40" fmla="*/ 1608317 w 2131153"/>
                  <a:gd name="connsiteY40" fmla="*/ 2531220 h 3279856"/>
                  <a:gd name="connsiteX41" fmla="*/ 1489464 w 2131153"/>
                  <a:gd name="connsiteY41" fmla="*/ 2649806 h 3279856"/>
                  <a:gd name="connsiteX42" fmla="*/ 641710 w 2131153"/>
                  <a:gd name="connsiteY42" fmla="*/ 2649806 h 3279856"/>
                  <a:gd name="connsiteX43" fmla="*/ 522857 w 2131153"/>
                  <a:gd name="connsiteY43" fmla="*/ 2531220 h 3279856"/>
                  <a:gd name="connsiteX44" fmla="*/ 641710 w 2131153"/>
                  <a:gd name="connsiteY44" fmla="*/ 2412367 h 3279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2131153" h="3279856">
                    <a:moveTo>
                      <a:pt x="506703" y="2252937"/>
                    </a:moveTo>
                    <a:cubicBezTo>
                      <a:pt x="403595" y="2303163"/>
                      <a:pt x="332357" y="2409023"/>
                      <a:pt x="332357" y="2531220"/>
                    </a:cubicBezTo>
                    <a:cubicBezTo>
                      <a:pt x="332357" y="2665951"/>
                      <a:pt x="419111" y="2780746"/>
                      <a:pt x="539707" y="2822961"/>
                    </a:cubicBezTo>
                    <a:lnTo>
                      <a:pt x="539707" y="2964826"/>
                    </a:lnTo>
                    <a:cubicBezTo>
                      <a:pt x="539707" y="3138534"/>
                      <a:pt x="680905" y="3279856"/>
                      <a:pt x="854451" y="3279856"/>
                    </a:cubicBezTo>
                    <a:lnTo>
                      <a:pt x="1276437" y="3279856"/>
                    </a:lnTo>
                    <a:cubicBezTo>
                      <a:pt x="1450135" y="3279856"/>
                      <a:pt x="1591457" y="3138534"/>
                      <a:pt x="1591457" y="2964826"/>
                    </a:cubicBezTo>
                    <a:lnTo>
                      <a:pt x="1591457" y="2822961"/>
                    </a:lnTo>
                    <a:cubicBezTo>
                      <a:pt x="1712053" y="2780746"/>
                      <a:pt x="1798807" y="2665941"/>
                      <a:pt x="1798807" y="2531220"/>
                    </a:cubicBezTo>
                    <a:cubicBezTo>
                      <a:pt x="1798807" y="2409014"/>
                      <a:pt x="1727570" y="2303153"/>
                      <a:pt x="1624452" y="2252928"/>
                    </a:cubicBezTo>
                    <a:cubicBezTo>
                      <a:pt x="1666162" y="2097975"/>
                      <a:pt x="1750715" y="1982599"/>
                      <a:pt x="1839641" y="1861574"/>
                    </a:cubicBezTo>
                    <a:cubicBezTo>
                      <a:pt x="1976439" y="1675398"/>
                      <a:pt x="2131487" y="1464381"/>
                      <a:pt x="2131153" y="1092687"/>
                    </a:cubicBezTo>
                    <a:cubicBezTo>
                      <a:pt x="2131153" y="1059502"/>
                      <a:pt x="2129782" y="1025441"/>
                      <a:pt x="2127077" y="991446"/>
                    </a:cubicBezTo>
                    <a:cubicBezTo>
                      <a:pt x="2122905" y="939002"/>
                      <a:pt x="2077118" y="899997"/>
                      <a:pt x="2024569" y="904045"/>
                    </a:cubicBezTo>
                    <a:cubicBezTo>
                      <a:pt x="1972133" y="908217"/>
                      <a:pt x="1933005" y="954108"/>
                      <a:pt x="1937177" y="1006553"/>
                    </a:cubicBezTo>
                    <a:cubicBezTo>
                      <a:pt x="1939482" y="1035537"/>
                      <a:pt x="1940653" y="1064513"/>
                      <a:pt x="1940653" y="1092764"/>
                    </a:cubicBezTo>
                    <a:cubicBezTo>
                      <a:pt x="1940930" y="1401983"/>
                      <a:pt x="1817162" y="1570433"/>
                      <a:pt x="1686117" y="1748770"/>
                    </a:cubicBezTo>
                    <a:cubicBezTo>
                      <a:pt x="1586685" y="1884091"/>
                      <a:pt x="1484358" y="2023585"/>
                      <a:pt x="1435600" y="2221848"/>
                    </a:cubicBezTo>
                    <a:lnTo>
                      <a:pt x="695526" y="2221848"/>
                    </a:lnTo>
                    <a:cubicBezTo>
                      <a:pt x="646768" y="2023604"/>
                      <a:pt x="544412" y="1884120"/>
                      <a:pt x="444962" y="1748808"/>
                    </a:cubicBezTo>
                    <a:cubicBezTo>
                      <a:pt x="313879" y="1570471"/>
                      <a:pt x="190073" y="1402021"/>
                      <a:pt x="190482" y="1092792"/>
                    </a:cubicBezTo>
                    <a:cubicBezTo>
                      <a:pt x="190901" y="763065"/>
                      <a:pt x="332167" y="554830"/>
                      <a:pt x="450610" y="438206"/>
                    </a:cubicBezTo>
                    <a:cubicBezTo>
                      <a:pt x="613697" y="277614"/>
                      <a:pt x="837087" y="187355"/>
                      <a:pt x="1064220" y="190556"/>
                    </a:cubicBezTo>
                    <a:cubicBezTo>
                      <a:pt x="1065134" y="190565"/>
                      <a:pt x="1066039" y="190565"/>
                      <a:pt x="1066954" y="190556"/>
                    </a:cubicBezTo>
                    <a:cubicBezTo>
                      <a:pt x="1252015" y="187746"/>
                      <a:pt x="1437619" y="248068"/>
                      <a:pt x="1589143" y="360091"/>
                    </a:cubicBezTo>
                    <a:cubicBezTo>
                      <a:pt x="1631424" y="391362"/>
                      <a:pt x="1691089" y="382418"/>
                      <a:pt x="1722359" y="340127"/>
                    </a:cubicBezTo>
                    <a:cubicBezTo>
                      <a:pt x="1753630" y="297826"/>
                      <a:pt x="1744696" y="238181"/>
                      <a:pt x="1702395" y="206910"/>
                    </a:cubicBezTo>
                    <a:cubicBezTo>
                      <a:pt x="1517905" y="70531"/>
                      <a:pt x="1291801" y="-2840"/>
                      <a:pt x="1065563" y="84"/>
                    </a:cubicBezTo>
                    <a:cubicBezTo>
                      <a:pt x="788490" y="-3297"/>
                      <a:pt x="515780" y="106726"/>
                      <a:pt x="316965" y="302503"/>
                    </a:cubicBezTo>
                    <a:cubicBezTo>
                      <a:pt x="110006" y="506300"/>
                      <a:pt x="401" y="779505"/>
                      <a:pt x="1" y="1092573"/>
                    </a:cubicBezTo>
                    <a:cubicBezTo>
                      <a:pt x="-494" y="1464420"/>
                      <a:pt x="154630" y="1675465"/>
                      <a:pt x="291485" y="1861660"/>
                    </a:cubicBezTo>
                    <a:cubicBezTo>
                      <a:pt x="380420" y="1982656"/>
                      <a:pt x="464993" y="2098013"/>
                      <a:pt x="506703" y="2252937"/>
                    </a:cubicBezTo>
                    <a:close/>
                    <a:moveTo>
                      <a:pt x="1400967" y="2964836"/>
                    </a:moveTo>
                    <a:cubicBezTo>
                      <a:pt x="1400967" y="3033501"/>
                      <a:pt x="1345112" y="3089366"/>
                      <a:pt x="1276447" y="3089366"/>
                    </a:cubicBezTo>
                    <a:lnTo>
                      <a:pt x="854460" y="3089366"/>
                    </a:lnTo>
                    <a:cubicBezTo>
                      <a:pt x="785947" y="3089366"/>
                      <a:pt x="730216" y="3033501"/>
                      <a:pt x="730216" y="2964836"/>
                    </a:cubicBezTo>
                    <a:lnTo>
                      <a:pt x="730216" y="2840316"/>
                    </a:lnTo>
                    <a:lnTo>
                      <a:pt x="1400967" y="2840316"/>
                    </a:lnTo>
                    <a:close/>
                    <a:moveTo>
                      <a:pt x="641710" y="2412367"/>
                    </a:moveTo>
                    <a:lnTo>
                      <a:pt x="1489464" y="2412367"/>
                    </a:lnTo>
                    <a:cubicBezTo>
                      <a:pt x="1554996" y="2412367"/>
                      <a:pt x="1608317" y="2465688"/>
                      <a:pt x="1608317" y="2531220"/>
                    </a:cubicBezTo>
                    <a:cubicBezTo>
                      <a:pt x="1608317" y="2596609"/>
                      <a:pt x="1555005" y="2649806"/>
                      <a:pt x="1489464" y="2649806"/>
                    </a:cubicBezTo>
                    <a:lnTo>
                      <a:pt x="641710" y="2649806"/>
                    </a:lnTo>
                    <a:cubicBezTo>
                      <a:pt x="576178" y="2649806"/>
                      <a:pt x="522857" y="2596609"/>
                      <a:pt x="522857" y="2531220"/>
                    </a:cubicBezTo>
                    <a:cubicBezTo>
                      <a:pt x="522857" y="2465688"/>
                      <a:pt x="576178" y="2412367"/>
                      <a:pt x="641710" y="241236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8881E03-9FE0-4BB2-BFD4-5DD6F7A26D5F}"/>
                  </a:ext>
                </a:extLst>
              </p:cNvPr>
              <p:cNvSpPr/>
              <p:nvPr/>
            </p:nvSpPr>
            <p:spPr>
              <a:xfrm>
                <a:off x="6370558" y="1225295"/>
                <a:ext cx="577386" cy="190500"/>
              </a:xfrm>
              <a:custGeom>
                <a:avLst/>
                <a:gdLst>
                  <a:gd name="connsiteX0" fmla="*/ 482136 w 577386"/>
                  <a:gd name="connsiteY0" fmla="*/ 0 h 190500"/>
                  <a:gd name="connsiteX1" fmla="*/ 95250 w 577386"/>
                  <a:gd name="connsiteY1" fmla="*/ 0 h 190500"/>
                  <a:gd name="connsiteX2" fmla="*/ 0 w 577386"/>
                  <a:gd name="connsiteY2" fmla="*/ 95250 h 190500"/>
                  <a:gd name="connsiteX3" fmla="*/ 95250 w 577386"/>
                  <a:gd name="connsiteY3" fmla="*/ 190500 h 190500"/>
                  <a:gd name="connsiteX4" fmla="*/ 482136 w 577386"/>
                  <a:gd name="connsiteY4" fmla="*/ 190500 h 190500"/>
                  <a:gd name="connsiteX5" fmla="*/ 577386 w 577386"/>
                  <a:gd name="connsiteY5" fmla="*/ 95250 h 190500"/>
                  <a:gd name="connsiteX6" fmla="*/ 482136 w 577386"/>
                  <a:gd name="connsiteY6" fmla="*/ 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7386" h="190500">
                    <a:moveTo>
                      <a:pt x="482136" y="0"/>
                    </a:moveTo>
                    <a:lnTo>
                      <a:pt x="95250" y="0"/>
                    </a:lnTo>
                    <a:cubicBezTo>
                      <a:pt x="42643" y="0"/>
                      <a:pt x="0" y="42643"/>
                      <a:pt x="0" y="95250"/>
                    </a:cubicBezTo>
                    <a:cubicBezTo>
                      <a:pt x="0" y="147857"/>
                      <a:pt x="42643" y="190500"/>
                      <a:pt x="95250" y="190500"/>
                    </a:cubicBezTo>
                    <a:lnTo>
                      <a:pt x="482136" y="190500"/>
                    </a:lnTo>
                    <a:cubicBezTo>
                      <a:pt x="534743" y="190500"/>
                      <a:pt x="577386" y="147857"/>
                      <a:pt x="577386" y="95250"/>
                    </a:cubicBezTo>
                    <a:cubicBezTo>
                      <a:pt x="577386" y="42643"/>
                      <a:pt x="534743" y="0"/>
                      <a:pt x="482136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D221909-2B76-4EF6-B46C-3A45FBE024EC}"/>
                  </a:ext>
                </a:extLst>
              </p:cNvPr>
              <p:cNvSpPr/>
              <p:nvPr/>
            </p:nvSpPr>
            <p:spPr>
              <a:xfrm>
                <a:off x="6210432" y="205789"/>
                <a:ext cx="511532" cy="405972"/>
              </a:xfrm>
              <a:custGeom>
                <a:avLst/>
                <a:gdLst>
                  <a:gd name="connsiteX0" fmla="*/ 95356 w 511532"/>
                  <a:gd name="connsiteY0" fmla="*/ 405973 h 405972"/>
                  <a:gd name="connsiteX1" fmla="*/ 148343 w 511532"/>
                  <a:gd name="connsiteY1" fmla="*/ 389799 h 405972"/>
                  <a:gd name="connsiteX2" fmla="*/ 469355 w 511532"/>
                  <a:gd name="connsiteY2" fmla="*/ 174344 h 405972"/>
                  <a:gd name="connsiteX3" fmla="*/ 495358 w 511532"/>
                  <a:gd name="connsiteY3" fmla="*/ 42175 h 405972"/>
                  <a:gd name="connsiteX4" fmla="*/ 363189 w 511532"/>
                  <a:gd name="connsiteY4" fmla="*/ 16172 h 405972"/>
                  <a:gd name="connsiteX5" fmla="*/ 42177 w 511532"/>
                  <a:gd name="connsiteY5" fmla="*/ 231627 h 405972"/>
                  <a:gd name="connsiteX6" fmla="*/ 16174 w 511532"/>
                  <a:gd name="connsiteY6" fmla="*/ 363796 h 405972"/>
                  <a:gd name="connsiteX7" fmla="*/ 95356 w 511532"/>
                  <a:gd name="connsiteY7" fmla="*/ 405973 h 405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32" h="405972">
                    <a:moveTo>
                      <a:pt x="95356" y="405973"/>
                    </a:moveTo>
                    <a:cubicBezTo>
                      <a:pt x="113606" y="405973"/>
                      <a:pt x="132055" y="400734"/>
                      <a:pt x="148343" y="389799"/>
                    </a:cubicBezTo>
                    <a:lnTo>
                      <a:pt x="469355" y="174344"/>
                    </a:lnTo>
                    <a:cubicBezTo>
                      <a:pt x="513037" y="145026"/>
                      <a:pt x="524676" y="85857"/>
                      <a:pt x="495358" y="42175"/>
                    </a:cubicBezTo>
                    <a:cubicBezTo>
                      <a:pt x="466050" y="-1497"/>
                      <a:pt x="406880" y="-13146"/>
                      <a:pt x="363189" y="16172"/>
                    </a:cubicBezTo>
                    <a:lnTo>
                      <a:pt x="42177" y="231627"/>
                    </a:lnTo>
                    <a:cubicBezTo>
                      <a:pt x="-1504" y="260945"/>
                      <a:pt x="-13144" y="320124"/>
                      <a:pt x="16174" y="363796"/>
                    </a:cubicBezTo>
                    <a:cubicBezTo>
                      <a:pt x="34567" y="391181"/>
                      <a:pt x="64676" y="405973"/>
                      <a:pt x="95356" y="40597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1EB45611-ABEE-42BE-8A16-597DCDFA6863}"/>
                  </a:ext>
                </a:extLst>
              </p:cNvPr>
              <p:cNvSpPr/>
              <p:nvPr/>
            </p:nvSpPr>
            <p:spPr>
              <a:xfrm>
                <a:off x="6210444" y="2029331"/>
                <a:ext cx="511529" cy="405972"/>
              </a:xfrm>
              <a:custGeom>
                <a:avLst/>
                <a:gdLst>
                  <a:gd name="connsiteX0" fmla="*/ 469352 w 511529"/>
                  <a:gd name="connsiteY0" fmla="*/ 231627 h 405972"/>
                  <a:gd name="connsiteX1" fmla="*/ 148341 w 511529"/>
                  <a:gd name="connsiteY1" fmla="*/ 16172 h 405972"/>
                  <a:gd name="connsiteX2" fmla="*/ 16172 w 511529"/>
                  <a:gd name="connsiteY2" fmla="*/ 42175 h 405972"/>
                  <a:gd name="connsiteX3" fmla="*/ 42175 w 511529"/>
                  <a:gd name="connsiteY3" fmla="*/ 174344 h 405972"/>
                  <a:gd name="connsiteX4" fmla="*/ 363186 w 511529"/>
                  <a:gd name="connsiteY4" fmla="*/ 389800 h 405972"/>
                  <a:gd name="connsiteX5" fmla="*/ 416174 w 511529"/>
                  <a:gd name="connsiteY5" fmla="*/ 405973 h 405972"/>
                  <a:gd name="connsiteX6" fmla="*/ 495355 w 511529"/>
                  <a:gd name="connsiteY6" fmla="*/ 363796 h 405972"/>
                  <a:gd name="connsiteX7" fmla="*/ 469352 w 511529"/>
                  <a:gd name="connsiteY7" fmla="*/ 231627 h 405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29" h="405972">
                    <a:moveTo>
                      <a:pt x="469352" y="231627"/>
                    </a:moveTo>
                    <a:lnTo>
                      <a:pt x="148341" y="16172"/>
                    </a:lnTo>
                    <a:cubicBezTo>
                      <a:pt x="104659" y="-13146"/>
                      <a:pt x="45480" y="-1497"/>
                      <a:pt x="16172" y="42175"/>
                    </a:cubicBezTo>
                    <a:cubicBezTo>
                      <a:pt x="-13146" y="85847"/>
                      <a:pt x="-1497" y="145026"/>
                      <a:pt x="42175" y="174344"/>
                    </a:cubicBezTo>
                    <a:lnTo>
                      <a:pt x="363186" y="389800"/>
                    </a:lnTo>
                    <a:cubicBezTo>
                      <a:pt x="379474" y="400734"/>
                      <a:pt x="397924" y="405973"/>
                      <a:pt x="416174" y="405973"/>
                    </a:cubicBezTo>
                    <a:cubicBezTo>
                      <a:pt x="446854" y="405973"/>
                      <a:pt x="476972" y="391181"/>
                      <a:pt x="495355" y="363796"/>
                    </a:cubicBezTo>
                    <a:cubicBezTo>
                      <a:pt x="524673" y="320115"/>
                      <a:pt x="513034" y="260936"/>
                      <a:pt x="469352" y="23162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4CE7106-F241-45A2-8DC6-647F07910400}"/>
                  </a:ext>
                </a:extLst>
              </p:cNvPr>
              <p:cNvSpPr/>
              <p:nvPr/>
            </p:nvSpPr>
            <p:spPr>
              <a:xfrm>
                <a:off x="2947396" y="1225295"/>
                <a:ext cx="577119" cy="190500"/>
              </a:xfrm>
              <a:custGeom>
                <a:avLst/>
                <a:gdLst>
                  <a:gd name="connsiteX0" fmla="*/ 95250 w 577119"/>
                  <a:gd name="connsiteY0" fmla="*/ 190500 h 190500"/>
                  <a:gd name="connsiteX1" fmla="*/ 481870 w 577119"/>
                  <a:gd name="connsiteY1" fmla="*/ 190500 h 190500"/>
                  <a:gd name="connsiteX2" fmla="*/ 577120 w 577119"/>
                  <a:gd name="connsiteY2" fmla="*/ 95250 h 190500"/>
                  <a:gd name="connsiteX3" fmla="*/ 481870 w 577119"/>
                  <a:gd name="connsiteY3" fmla="*/ 0 h 190500"/>
                  <a:gd name="connsiteX4" fmla="*/ 95250 w 577119"/>
                  <a:gd name="connsiteY4" fmla="*/ 0 h 190500"/>
                  <a:gd name="connsiteX5" fmla="*/ 0 w 577119"/>
                  <a:gd name="connsiteY5" fmla="*/ 95250 h 190500"/>
                  <a:gd name="connsiteX6" fmla="*/ 95250 w 577119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7119" h="190500">
                    <a:moveTo>
                      <a:pt x="95250" y="190500"/>
                    </a:moveTo>
                    <a:lnTo>
                      <a:pt x="481870" y="190500"/>
                    </a:lnTo>
                    <a:cubicBezTo>
                      <a:pt x="534476" y="190500"/>
                      <a:pt x="577120" y="147857"/>
                      <a:pt x="577120" y="95250"/>
                    </a:cubicBezTo>
                    <a:cubicBezTo>
                      <a:pt x="577120" y="42643"/>
                      <a:pt x="534476" y="0"/>
                      <a:pt x="481870" y="0"/>
                    </a:cubicBezTo>
                    <a:lnTo>
                      <a:pt x="95250" y="0"/>
                    </a:lnTo>
                    <a:cubicBezTo>
                      <a:pt x="42643" y="0"/>
                      <a:pt x="0" y="42643"/>
                      <a:pt x="0" y="95250"/>
                    </a:cubicBezTo>
                    <a:cubicBezTo>
                      <a:pt x="0" y="147857"/>
                      <a:pt x="42643" y="190500"/>
                      <a:pt x="95250" y="19050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33EB9E4-C4E6-45FF-BC27-6AB77D99790A}"/>
                  </a:ext>
                </a:extLst>
              </p:cNvPr>
              <p:cNvSpPr/>
              <p:nvPr/>
            </p:nvSpPr>
            <p:spPr>
              <a:xfrm>
                <a:off x="3173367" y="205798"/>
                <a:ext cx="511529" cy="405972"/>
              </a:xfrm>
              <a:custGeom>
                <a:avLst/>
                <a:gdLst>
                  <a:gd name="connsiteX0" fmla="*/ 42178 w 511529"/>
                  <a:gd name="connsiteY0" fmla="*/ 174344 h 405972"/>
                  <a:gd name="connsiteX1" fmla="*/ 363189 w 511529"/>
                  <a:gd name="connsiteY1" fmla="*/ 389799 h 405972"/>
                  <a:gd name="connsiteX2" fmla="*/ 416177 w 511529"/>
                  <a:gd name="connsiteY2" fmla="*/ 405973 h 405972"/>
                  <a:gd name="connsiteX3" fmla="*/ 495358 w 511529"/>
                  <a:gd name="connsiteY3" fmla="*/ 363796 h 405972"/>
                  <a:gd name="connsiteX4" fmla="*/ 469355 w 511529"/>
                  <a:gd name="connsiteY4" fmla="*/ 231627 h 405972"/>
                  <a:gd name="connsiteX5" fmla="*/ 148343 w 511529"/>
                  <a:gd name="connsiteY5" fmla="*/ 16172 h 405972"/>
                  <a:gd name="connsiteX6" fmla="*/ 16174 w 511529"/>
                  <a:gd name="connsiteY6" fmla="*/ 42175 h 405972"/>
                  <a:gd name="connsiteX7" fmla="*/ 42178 w 511529"/>
                  <a:gd name="connsiteY7" fmla="*/ 174344 h 405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29" h="405972">
                    <a:moveTo>
                      <a:pt x="42178" y="174344"/>
                    </a:moveTo>
                    <a:lnTo>
                      <a:pt x="363189" y="389799"/>
                    </a:lnTo>
                    <a:cubicBezTo>
                      <a:pt x="379477" y="400734"/>
                      <a:pt x="397927" y="405973"/>
                      <a:pt x="416177" y="405973"/>
                    </a:cubicBezTo>
                    <a:cubicBezTo>
                      <a:pt x="446857" y="405973"/>
                      <a:pt x="476975" y="391181"/>
                      <a:pt x="495358" y="363796"/>
                    </a:cubicBezTo>
                    <a:cubicBezTo>
                      <a:pt x="524676" y="320124"/>
                      <a:pt x="513027" y="260945"/>
                      <a:pt x="469355" y="231627"/>
                    </a:cubicBezTo>
                    <a:lnTo>
                      <a:pt x="148343" y="16172"/>
                    </a:lnTo>
                    <a:cubicBezTo>
                      <a:pt x="104662" y="-13146"/>
                      <a:pt x="45492" y="-1497"/>
                      <a:pt x="16174" y="42175"/>
                    </a:cubicBezTo>
                    <a:cubicBezTo>
                      <a:pt x="-13144" y="85847"/>
                      <a:pt x="-1504" y="145026"/>
                      <a:pt x="42178" y="1743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E239679-6FB3-4063-BC04-90B484F8ABA0}"/>
                  </a:ext>
                </a:extLst>
              </p:cNvPr>
              <p:cNvSpPr/>
              <p:nvPr/>
            </p:nvSpPr>
            <p:spPr>
              <a:xfrm>
                <a:off x="3173376" y="2029331"/>
                <a:ext cx="511532" cy="405972"/>
              </a:xfrm>
              <a:custGeom>
                <a:avLst/>
                <a:gdLst>
                  <a:gd name="connsiteX0" fmla="*/ 363189 w 511532"/>
                  <a:gd name="connsiteY0" fmla="*/ 16172 h 405972"/>
                  <a:gd name="connsiteX1" fmla="*/ 42178 w 511532"/>
                  <a:gd name="connsiteY1" fmla="*/ 231627 h 405972"/>
                  <a:gd name="connsiteX2" fmla="*/ 16174 w 511532"/>
                  <a:gd name="connsiteY2" fmla="*/ 363796 h 405972"/>
                  <a:gd name="connsiteX3" fmla="*/ 95356 w 511532"/>
                  <a:gd name="connsiteY3" fmla="*/ 405973 h 405972"/>
                  <a:gd name="connsiteX4" fmla="*/ 148343 w 511532"/>
                  <a:gd name="connsiteY4" fmla="*/ 389800 h 405972"/>
                  <a:gd name="connsiteX5" fmla="*/ 469355 w 511532"/>
                  <a:gd name="connsiteY5" fmla="*/ 174344 h 405972"/>
                  <a:gd name="connsiteX6" fmla="*/ 495358 w 511532"/>
                  <a:gd name="connsiteY6" fmla="*/ 42175 h 405972"/>
                  <a:gd name="connsiteX7" fmla="*/ 363189 w 511532"/>
                  <a:gd name="connsiteY7" fmla="*/ 16172 h 405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1532" h="405972">
                    <a:moveTo>
                      <a:pt x="363189" y="16172"/>
                    </a:moveTo>
                    <a:lnTo>
                      <a:pt x="42178" y="231627"/>
                    </a:lnTo>
                    <a:cubicBezTo>
                      <a:pt x="-1504" y="260945"/>
                      <a:pt x="-13144" y="320124"/>
                      <a:pt x="16174" y="363796"/>
                    </a:cubicBezTo>
                    <a:cubicBezTo>
                      <a:pt x="34558" y="391181"/>
                      <a:pt x="64666" y="405973"/>
                      <a:pt x="95356" y="405973"/>
                    </a:cubicBezTo>
                    <a:cubicBezTo>
                      <a:pt x="113606" y="405973"/>
                      <a:pt x="132056" y="400734"/>
                      <a:pt x="148343" y="389800"/>
                    </a:cubicBezTo>
                    <a:lnTo>
                      <a:pt x="469355" y="174344"/>
                    </a:lnTo>
                    <a:cubicBezTo>
                      <a:pt x="513036" y="145026"/>
                      <a:pt x="524676" y="85847"/>
                      <a:pt x="495358" y="42175"/>
                    </a:cubicBezTo>
                    <a:cubicBezTo>
                      <a:pt x="466040" y="-1497"/>
                      <a:pt x="406861" y="-13146"/>
                      <a:pt x="363189" y="161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7934F9F-0607-486A-886D-E0ED2B2EC750}"/>
                  </a:ext>
                </a:extLst>
              </p:cNvPr>
              <p:cNvSpPr/>
              <p:nvPr/>
            </p:nvSpPr>
            <p:spPr>
              <a:xfrm>
                <a:off x="5700714" y="629957"/>
                <a:ext cx="190571" cy="190707"/>
              </a:xfrm>
              <a:custGeom>
                <a:avLst/>
                <a:gdLst>
                  <a:gd name="connsiteX0" fmla="*/ 28173 w 190571"/>
                  <a:gd name="connsiteY0" fmla="*/ 162875 h 190707"/>
                  <a:gd name="connsiteX1" fmla="*/ 95324 w 190571"/>
                  <a:gd name="connsiteY1" fmla="*/ 190707 h 190707"/>
                  <a:gd name="connsiteX2" fmla="*/ 162742 w 190571"/>
                  <a:gd name="connsiteY2" fmla="*/ 162742 h 190707"/>
                  <a:gd name="connsiteX3" fmla="*/ 162608 w 190571"/>
                  <a:gd name="connsiteY3" fmla="*/ 27896 h 190707"/>
                  <a:gd name="connsiteX4" fmla="*/ 27896 w 190571"/>
                  <a:gd name="connsiteY4" fmla="*/ 27896 h 190707"/>
                  <a:gd name="connsiteX5" fmla="*/ 27896 w 190571"/>
                  <a:gd name="connsiteY5" fmla="*/ 162608 h 190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0571" h="190707">
                    <a:moveTo>
                      <a:pt x="28173" y="162875"/>
                    </a:moveTo>
                    <a:cubicBezTo>
                      <a:pt x="46746" y="181439"/>
                      <a:pt x="71026" y="190707"/>
                      <a:pt x="95324" y="190707"/>
                    </a:cubicBezTo>
                    <a:cubicBezTo>
                      <a:pt x="119708" y="190707"/>
                      <a:pt x="144111" y="181373"/>
                      <a:pt x="162742" y="162742"/>
                    </a:cubicBezTo>
                    <a:cubicBezTo>
                      <a:pt x="199937" y="125547"/>
                      <a:pt x="199804" y="65101"/>
                      <a:pt x="162608" y="27896"/>
                    </a:cubicBezTo>
                    <a:cubicBezTo>
                      <a:pt x="125413" y="-9299"/>
                      <a:pt x="65101" y="-9299"/>
                      <a:pt x="27896" y="27896"/>
                    </a:cubicBezTo>
                    <a:cubicBezTo>
                      <a:pt x="-9299" y="65091"/>
                      <a:pt x="-9299" y="125404"/>
                      <a:pt x="27896" y="16260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64E475-5CE2-46C8-AB64-96ED7AE6AF47}"/>
                </a:ext>
              </a:extLst>
            </p:cNvPr>
            <p:cNvSpPr/>
            <p:nvPr/>
          </p:nvSpPr>
          <p:spPr bwMode="auto">
            <a:xfrm>
              <a:off x="1428213" y="1693683"/>
              <a:ext cx="116682" cy="182742"/>
            </a:xfrm>
            <a:custGeom>
              <a:avLst/>
              <a:gdLst>
                <a:gd name="connsiteX0" fmla="*/ 79869 w 258779"/>
                <a:gd name="connsiteY0" fmla="*/ 336691 h 405291"/>
                <a:gd name="connsiteX1" fmla="*/ 160543 w 258779"/>
                <a:gd name="connsiteY1" fmla="*/ 336691 h 405291"/>
                <a:gd name="connsiteX2" fmla="*/ 160543 w 258779"/>
                <a:gd name="connsiteY2" fmla="*/ 405291 h 405291"/>
                <a:gd name="connsiteX3" fmla="*/ 79869 w 258779"/>
                <a:gd name="connsiteY3" fmla="*/ 405291 h 405291"/>
                <a:gd name="connsiteX4" fmla="*/ 127340 w 258779"/>
                <a:gd name="connsiteY4" fmla="*/ 0 h 405291"/>
                <a:gd name="connsiteX5" fmla="*/ 223793 w 258779"/>
                <a:gd name="connsiteY5" fmla="*/ 31144 h 405291"/>
                <a:gd name="connsiteX6" fmla="*/ 258779 w 258779"/>
                <a:gd name="connsiteY6" fmla="*/ 115797 h 405291"/>
                <a:gd name="connsiteX7" fmla="*/ 238336 w 258779"/>
                <a:gd name="connsiteY7" fmla="*/ 180282 h 405291"/>
                <a:gd name="connsiteX8" fmla="*/ 187160 w 258779"/>
                <a:gd name="connsiteY8" fmla="*/ 229948 h 405291"/>
                <a:gd name="connsiteX9" fmla="*/ 165208 w 258779"/>
                <a:gd name="connsiteY9" fmla="*/ 255879 h 405291"/>
                <a:gd name="connsiteX10" fmla="*/ 159994 w 258779"/>
                <a:gd name="connsiteY10" fmla="*/ 291689 h 405291"/>
                <a:gd name="connsiteX11" fmla="*/ 80143 w 258779"/>
                <a:gd name="connsiteY11" fmla="*/ 291689 h 405291"/>
                <a:gd name="connsiteX12" fmla="*/ 91531 w 258779"/>
                <a:gd name="connsiteY12" fmla="*/ 235436 h 405291"/>
                <a:gd name="connsiteX13" fmla="*/ 135847 w 258779"/>
                <a:gd name="connsiteY13" fmla="*/ 192081 h 405291"/>
                <a:gd name="connsiteX14" fmla="*/ 166992 w 258779"/>
                <a:gd name="connsiteY14" fmla="*/ 157781 h 405291"/>
                <a:gd name="connsiteX15" fmla="*/ 178654 w 258779"/>
                <a:gd name="connsiteY15" fmla="*/ 116620 h 405291"/>
                <a:gd name="connsiteX16" fmla="*/ 165345 w 258779"/>
                <a:gd name="connsiteY16" fmla="*/ 77106 h 405291"/>
                <a:gd name="connsiteX17" fmla="*/ 127340 w 258779"/>
                <a:gd name="connsiteY17" fmla="*/ 62838 h 405291"/>
                <a:gd name="connsiteX18" fmla="*/ 92903 w 258779"/>
                <a:gd name="connsiteY18" fmla="*/ 74911 h 405291"/>
                <a:gd name="connsiteX19" fmla="*/ 78497 w 258779"/>
                <a:gd name="connsiteY19" fmla="*/ 110309 h 405291"/>
                <a:gd name="connsiteX20" fmla="*/ 567 w 258779"/>
                <a:gd name="connsiteY20" fmla="*/ 110309 h 405291"/>
                <a:gd name="connsiteX21" fmla="*/ 18 w 258779"/>
                <a:gd name="connsiteY21" fmla="*/ 108663 h 405291"/>
                <a:gd name="connsiteX22" fmla="*/ 34730 w 258779"/>
                <a:gd name="connsiteY22" fmla="*/ 27989 h 405291"/>
                <a:gd name="connsiteX23" fmla="*/ 127340 w 258779"/>
                <a:gd name="connsiteY23" fmla="*/ 0 h 40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8779" h="405291">
                  <a:moveTo>
                    <a:pt x="79869" y="336691"/>
                  </a:moveTo>
                  <a:lnTo>
                    <a:pt x="160543" y="336691"/>
                  </a:lnTo>
                  <a:lnTo>
                    <a:pt x="160543" y="405291"/>
                  </a:lnTo>
                  <a:lnTo>
                    <a:pt x="79869" y="405291"/>
                  </a:lnTo>
                  <a:close/>
                  <a:moveTo>
                    <a:pt x="127340" y="0"/>
                  </a:moveTo>
                  <a:cubicBezTo>
                    <a:pt x="168318" y="0"/>
                    <a:pt x="200469" y="10381"/>
                    <a:pt x="223793" y="31144"/>
                  </a:cubicBezTo>
                  <a:cubicBezTo>
                    <a:pt x="247117" y="51907"/>
                    <a:pt x="258779" y="80125"/>
                    <a:pt x="258779" y="115797"/>
                  </a:cubicBezTo>
                  <a:cubicBezTo>
                    <a:pt x="258779" y="139030"/>
                    <a:pt x="251965" y="160525"/>
                    <a:pt x="238336" y="180282"/>
                  </a:cubicBezTo>
                  <a:cubicBezTo>
                    <a:pt x="224707" y="200038"/>
                    <a:pt x="207649" y="216594"/>
                    <a:pt x="187160" y="229948"/>
                  </a:cubicBezTo>
                  <a:cubicBezTo>
                    <a:pt x="176001" y="238546"/>
                    <a:pt x="168684" y="247190"/>
                    <a:pt x="165208" y="255879"/>
                  </a:cubicBezTo>
                  <a:cubicBezTo>
                    <a:pt x="161732" y="264569"/>
                    <a:pt x="159994" y="276505"/>
                    <a:pt x="159994" y="291689"/>
                  </a:cubicBezTo>
                  <a:lnTo>
                    <a:pt x="80143" y="291689"/>
                  </a:lnTo>
                  <a:cubicBezTo>
                    <a:pt x="80326" y="266078"/>
                    <a:pt x="84122" y="247327"/>
                    <a:pt x="91531" y="235436"/>
                  </a:cubicBezTo>
                  <a:cubicBezTo>
                    <a:pt x="98940" y="223546"/>
                    <a:pt x="113712" y="209094"/>
                    <a:pt x="135847" y="192081"/>
                  </a:cubicBezTo>
                  <a:cubicBezTo>
                    <a:pt x="148835" y="181471"/>
                    <a:pt x="159217" y="170037"/>
                    <a:pt x="166992" y="157781"/>
                  </a:cubicBezTo>
                  <a:cubicBezTo>
                    <a:pt x="174766" y="145524"/>
                    <a:pt x="178654" y="131804"/>
                    <a:pt x="178654" y="116620"/>
                  </a:cubicBezTo>
                  <a:cubicBezTo>
                    <a:pt x="178654" y="99790"/>
                    <a:pt x="174217" y="86619"/>
                    <a:pt x="165345" y="77106"/>
                  </a:cubicBezTo>
                  <a:cubicBezTo>
                    <a:pt x="156473" y="67594"/>
                    <a:pt x="143805" y="62838"/>
                    <a:pt x="127340" y="62838"/>
                  </a:cubicBezTo>
                  <a:cubicBezTo>
                    <a:pt x="113803" y="62838"/>
                    <a:pt x="102324" y="66862"/>
                    <a:pt x="92903" y="74911"/>
                  </a:cubicBezTo>
                  <a:cubicBezTo>
                    <a:pt x="83482" y="82960"/>
                    <a:pt x="78680" y="94760"/>
                    <a:pt x="78497" y="110309"/>
                  </a:cubicBezTo>
                  <a:lnTo>
                    <a:pt x="567" y="110309"/>
                  </a:lnTo>
                  <a:lnTo>
                    <a:pt x="18" y="108663"/>
                  </a:lnTo>
                  <a:cubicBezTo>
                    <a:pt x="-531" y="73539"/>
                    <a:pt x="11040" y="46648"/>
                    <a:pt x="34730" y="27989"/>
                  </a:cubicBezTo>
                  <a:cubicBezTo>
                    <a:pt x="58420" y="9329"/>
                    <a:pt x="89290" y="0"/>
                    <a:pt x="127340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4" name="Freeform 11">
            <a:extLst>
              <a:ext uri="{FF2B5EF4-FFF2-40B4-BE49-F238E27FC236}">
                <a16:creationId xmlns:a16="http://schemas.microsoft.com/office/drawing/2014/main" id="{FDE4D703-52E3-4FA6-B76F-FFC9CF67F64B}"/>
              </a:ext>
            </a:extLst>
          </p:cNvPr>
          <p:cNvSpPr>
            <a:spLocks noEditPoints="1"/>
          </p:cNvSpPr>
          <p:nvPr/>
        </p:nvSpPr>
        <p:spPr bwMode="auto">
          <a:xfrm>
            <a:off x="730806" y="3304515"/>
            <a:ext cx="830739" cy="830736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0C1855-8585-45BA-BEE1-254687FE3A3F}"/>
              </a:ext>
            </a:extLst>
          </p:cNvPr>
          <p:cNvSpPr/>
          <p:nvPr/>
        </p:nvSpPr>
        <p:spPr bwMode="auto">
          <a:xfrm>
            <a:off x="841306" y="155094"/>
            <a:ext cx="3413761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+mj-lt"/>
              </a:rPr>
              <a:t>Контекст. Задачи. 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4D622C-352C-45B8-8E0B-8DE30A4327DD}"/>
              </a:ext>
            </a:extLst>
          </p:cNvPr>
          <p:cNvSpPr/>
          <p:nvPr/>
        </p:nvSpPr>
        <p:spPr bwMode="auto">
          <a:xfrm>
            <a:off x="145029" y="155094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I.</a:t>
            </a:r>
          </a:p>
        </p:txBody>
      </p:sp>
    </p:spTree>
    <p:extLst>
      <p:ext uri="{BB962C8B-B14F-4D97-AF65-F5344CB8AC3E}">
        <p14:creationId xmlns:p14="http://schemas.microsoft.com/office/powerpoint/2010/main" val="98010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D4F333B-8840-45C3-A05F-6E673038BE46}"/>
              </a:ext>
            </a:extLst>
          </p:cNvPr>
          <p:cNvSpPr/>
          <p:nvPr/>
        </p:nvSpPr>
        <p:spPr bwMode="auto">
          <a:xfrm>
            <a:off x="5334000" y="22860"/>
            <a:ext cx="3810000" cy="50863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Лучшие нейросети и ИИ для создания кратких конспектов лекций в 2025 году </a:t>
            </a:r>
            <a:b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r>
              <a:rPr lang="ru-RU" sz="1100" b="1" dirty="0">
                <a:effectLst/>
              </a:rPr>
              <a:t>1) </a:t>
            </a:r>
            <a:r>
              <a:rPr lang="ru-RU" sz="1400" b="1" u="sng" dirty="0" err="1">
                <a:effectLst/>
              </a:rPr>
              <a:t>Kampus</a:t>
            </a:r>
            <a:endParaRPr lang="ru-RU" sz="1100" b="1" u="sng" dirty="0">
              <a:effectLst/>
            </a:endParaRPr>
          </a:p>
          <a:p>
            <a:pPr>
              <a:lnSpc>
                <a:spcPct val="150000"/>
              </a:lnSpc>
            </a:pPr>
            <a:r>
              <a:rPr lang="ru-RU" sz="1100" b="1" dirty="0">
                <a:effectLst/>
              </a:rPr>
              <a:t>2) </a:t>
            </a:r>
            <a:r>
              <a:rPr lang="ru-RU" sz="1100" b="1" dirty="0" err="1">
                <a:effectLst/>
              </a:rPr>
              <a:t>AiWriteArt</a:t>
            </a:r>
            <a:r>
              <a:rPr lang="ru-RU" sz="1100" b="1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ru-RU" sz="1100" b="1" dirty="0">
                <a:effectLst/>
              </a:rPr>
              <a:t>3) </a:t>
            </a:r>
            <a:r>
              <a:rPr lang="ru-RU" sz="1100" b="1" dirty="0" err="1">
                <a:effectLst/>
              </a:rPr>
              <a:t>StudGPT</a:t>
            </a:r>
            <a:r>
              <a:rPr lang="ru-RU" sz="1100" b="1" dirty="0">
                <a:effectLst/>
              </a:rPr>
              <a:t> </a:t>
            </a:r>
            <a:br>
              <a:rPr lang="ru-RU" sz="1100" b="1" dirty="0">
                <a:effectLst/>
              </a:rPr>
            </a:br>
            <a:r>
              <a:rPr lang="ru-RU" sz="1100" b="1" dirty="0">
                <a:effectLst/>
              </a:rPr>
              <a:t>4) </a:t>
            </a:r>
            <a:r>
              <a:rPr lang="ru-RU" sz="1100" b="1" dirty="0" err="1">
                <a:effectLst/>
              </a:rPr>
              <a:t>RuGPT</a:t>
            </a:r>
            <a:r>
              <a:rPr lang="ru-RU" sz="1100" b="1" dirty="0">
                <a:effectLst/>
              </a:rPr>
              <a:t> </a:t>
            </a:r>
            <a:br>
              <a:rPr lang="ru-RU" sz="1100" dirty="0">
                <a:effectLst/>
              </a:rPr>
            </a:br>
            <a:r>
              <a:rPr lang="ru-RU" sz="1100" dirty="0">
                <a:effectLst/>
              </a:rPr>
              <a:t>ИИ, которые подходят для разнообразных задач:</a:t>
            </a:r>
          </a:p>
          <a:p>
            <a:pPr>
              <a:lnSpc>
                <a:spcPct val="150000"/>
              </a:lnSpc>
            </a:pPr>
            <a:r>
              <a:rPr lang="ru-RU" sz="1100" dirty="0">
                <a:effectLst/>
              </a:rPr>
              <a:t>5) </a:t>
            </a:r>
            <a:r>
              <a:rPr lang="ru-RU" sz="1100" dirty="0" err="1">
                <a:effectLst/>
              </a:rPr>
              <a:t>ChatGPT</a:t>
            </a:r>
            <a:br>
              <a:rPr lang="ru-RU" sz="1100" dirty="0"/>
            </a:br>
            <a:r>
              <a:rPr lang="ru-RU" sz="1100" dirty="0">
                <a:effectLst/>
              </a:rPr>
              <a:t>6) </a:t>
            </a:r>
            <a:r>
              <a:rPr lang="ru-RU" sz="1100" dirty="0" err="1">
                <a:effectLst/>
              </a:rPr>
              <a:t>Gemini</a:t>
            </a:r>
            <a:endParaRPr lang="ru-RU" sz="11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ru-RU" sz="1100" dirty="0">
                <a:effectLst/>
              </a:rPr>
              <a:t>7) </a:t>
            </a:r>
            <a:r>
              <a:rPr lang="ru-RU" sz="1100" dirty="0" err="1">
                <a:effectLst/>
              </a:rPr>
              <a:t>DeepL</a:t>
            </a:r>
            <a:endParaRPr lang="ru-RU" sz="11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ru-RU" sz="1100" dirty="0">
                <a:effectLst/>
              </a:rPr>
              <a:t>Сервисы на стадии доработки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8) GPT-Tools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9) </a:t>
            </a:r>
            <a:r>
              <a:rPr lang="ru-RU" sz="1100" dirty="0" err="1">
                <a:effectLst/>
              </a:rPr>
              <a:t>GoGPT</a:t>
            </a:r>
            <a:endParaRPr lang="ru-RU" sz="110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10) </a:t>
            </a:r>
            <a:r>
              <a:rPr lang="ru-RU" sz="1100" dirty="0" err="1">
                <a:effectLst/>
              </a:rPr>
              <a:t>ChadGPT</a:t>
            </a:r>
            <a:endParaRPr lang="ru-RU" sz="110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11) Study24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12) </a:t>
            </a:r>
            <a:r>
              <a:rPr lang="ru-RU" sz="1100" dirty="0" err="1">
                <a:effectLst/>
              </a:rPr>
              <a:t>WordyBot</a:t>
            </a:r>
            <a:endParaRPr lang="ru-RU" sz="110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13) </a:t>
            </a:r>
            <a:r>
              <a:rPr lang="ru-RU" sz="1100" dirty="0" err="1">
                <a:effectLst/>
              </a:rPr>
              <a:t>Neuro-Texter</a:t>
            </a:r>
            <a:endParaRPr lang="ru-RU" sz="110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14) </a:t>
            </a:r>
            <a:r>
              <a:rPr lang="ru-RU" sz="1100" dirty="0" err="1">
                <a:effectLst/>
              </a:rPr>
              <a:t>HeyBro</a:t>
            </a:r>
            <a:endParaRPr lang="ru-RU" sz="1100" dirty="0">
              <a:effectLst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ffectLst/>
              </a:rPr>
              <a:t>15) </a:t>
            </a:r>
            <a:r>
              <a:rPr lang="ru-RU" sz="1100" dirty="0" err="1">
                <a:effectLst/>
              </a:rPr>
              <a:t>AI.Mitup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701A00-8CF8-467F-815E-77CFD0DA7F71}"/>
              </a:ext>
            </a:extLst>
          </p:cNvPr>
          <p:cNvSpPr/>
          <p:nvPr/>
        </p:nvSpPr>
        <p:spPr bwMode="auto">
          <a:xfrm>
            <a:off x="76200" y="819150"/>
            <a:ext cx="5181600" cy="3581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Kampus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r>
              <a:rPr lang="ru-RU" sz="1100" b="1" dirty="0"/>
              <a:t>Что умеет </a:t>
            </a:r>
            <a:r>
              <a:rPr lang="ru-RU" sz="1100" b="1" dirty="0" err="1"/>
              <a:t>Kampus</a:t>
            </a:r>
            <a:r>
              <a:rPr lang="ru-RU" sz="1100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/>
              <a:t>Пишет рефераты, курсовые и проекты. Введите тему, и ИИ сам создаст текст с реальными фактами, логикой и даже списком литературы!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/>
              <a:t>Решает сложные задачи. Математика, программирование, физика? Сервис справляется даже с высшей математикой и объясняет всё понятным языком.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 err="1"/>
              <a:t>Создает</a:t>
            </a:r>
            <a:r>
              <a:rPr lang="ru-RU" sz="1100" dirty="0"/>
              <a:t> научные статьи, доклады и индивидуальные проекты. Хотите блеснуть на защите? </a:t>
            </a:r>
            <a:r>
              <a:rPr lang="ru-RU" sz="1100" dirty="0" err="1"/>
              <a:t>Kampus</a:t>
            </a:r>
            <a:r>
              <a:rPr lang="ru-RU" sz="1100" dirty="0"/>
              <a:t> подготовит всё на высшем уровне.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/>
              <a:t>Помогает разобраться в теме. Это не просто ответы, а глубокое объяснение, чтобы вы действительно всё поняли.</a:t>
            </a:r>
          </a:p>
          <a:p>
            <a:r>
              <a:rPr lang="ru-RU" sz="1100" b="1" dirty="0"/>
              <a:t>Почему выбрать </a:t>
            </a:r>
            <a:r>
              <a:rPr lang="ru-RU" sz="1100" b="1" dirty="0" err="1"/>
              <a:t>Kampus</a:t>
            </a:r>
            <a:r>
              <a:rPr lang="ru-RU" sz="1100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/>
              <a:t>Экономит ваше время. Забудьте о долгих поисках информации или написании текста — </a:t>
            </a:r>
            <a:r>
              <a:rPr lang="ru-RU" sz="1100" dirty="0" err="1"/>
              <a:t>Kampus</a:t>
            </a:r>
            <a:r>
              <a:rPr lang="ru-RU" sz="1100" dirty="0"/>
              <a:t> сделает всё за вас за считаные минуты.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/>
              <a:t>Простой интерфейс. Вам не нужно быть айтишником, чтобы пользоваться </a:t>
            </a:r>
            <a:r>
              <a:rPr lang="ru-RU" sz="1100" dirty="0" err="1"/>
              <a:t>Kampus</a:t>
            </a:r>
            <a:r>
              <a:rPr lang="ru-RU" sz="1100" dirty="0"/>
              <a:t> — всё интуитивно и удобно.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/>
              <a:t>Работает на вас. Любая задача будет решена, будь то школьный реферат, курсовая работа или даже сложный проект для университета.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dirty="0"/>
              <a:t>Доступно каждому. </a:t>
            </a:r>
            <a:r>
              <a:rPr lang="ru-RU" sz="1100" dirty="0" err="1"/>
              <a:t>Kampus</a:t>
            </a:r>
            <a:r>
              <a:rPr lang="ru-RU" sz="1100" dirty="0"/>
              <a:t> подходит для студентов, школьников и даже специалистов, которые ценят своё время.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0C1855-8585-45BA-BEE1-254687FE3A3F}"/>
              </a:ext>
            </a:extLst>
          </p:cNvPr>
          <p:cNvSpPr/>
          <p:nvPr/>
        </p:nvSpPr>
        <p:spPr bwMode="auto">
          <a:xfrm>
            <a:off x="841306" y="155094"/>
            <a:ext cx="3413761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+mj-lt"/>
              </a:rPr>
              <a:t>Конкурентный анализ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4D622C-352C-45B8-8E0B-8DE30A4327DD}"/>
              </a:ext>
            </a:extLst>
          </p:cNvPr>
          <p:cNvSpPr/>
          <p:nvPr/>
        </p:nvSpPr>
        <p:spPr bwMode="auto">
          <a:xfrm>
            <a:off x="145029" y="155094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F7586B-1F8E-430B-8682-DD9075BE6E4D}"/>
              </a:ext>
            </a:extLst>
          </p:cNvPr>
          <p:cNvSpPr txBox="1"/>
          <p:nvPr/>
        </p:nvSpPr>
        <p:spPr>
          <a:xfrm>
            <a:off x="228600" y="4400550"/>
            <a:ext cx="4579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u="sng" dirty="0"/>
              <a:t>https://vc.ru/niksolovov/1776007-luchshie-neiroseti-i-ii-dlya-sozdaniya-kratkih-konspektov-lekcii-v-2025-godu</a:t>
            </a:r>
          </a:p>
        </p:txBody>
      </p:sp>
    </p:spTree>
    <p:extLst>
      <p:ext uri="{BB962C8B-B14F-4D97-AF65-F5344CB8AC3E}">
        <p14:creationId xmlns:p14="http://schemas.microsoft.com/office/powerpoint/2010/main" val="2867458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97A7E23-5CEF-407B-B1F5-8697722E0DF8}"/>
              </a:ext>
            </a:extLst>
          </p:cNvPr>
          <p:cNvSpPr/>
          <p:nvPr/>
        </p:nvSpPr>
        <p:spPr bwMode="auto">
          <a:xfrm>
            <a:off x="762000" y="57150"/>
            <a:ext cx="3413761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Роли в команде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6F93D0-C61C-4011-A923-31F79B30D051}"/>
              </a:ext>
            </a:extLst>
          </p:cNvPr>
          <p:cNvSpPr/>
          <p:nvPr/>
        </p:nvSpPr>
        <p:spPr bwMode="auto">
          <a:xfrm>
            <a:off x="65724" y="57150"/>
            <a:ext cx="594360" cy="590114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2AB905-BAA7-45ED-B8AE-220E2CBF1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056"/>
            <a:ext cx="9144000" cy="408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4C7C-6559-4D57-895E-B2312324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4DD48-8B06-4B0B-84A5-9C6DBF9D8352}"/>
              </a:ext>
            </a:extLst>
          </p:cNvPr>
          <p:cNvSpPr/>
          <p:nvPr/>
        </p:nvSpPr>
        <p:spPr bwMode="auto">
          <a:xfrm>
            <a:off x="762000" y="20864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требований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644953-8058-411D-852A-892515A361F3}"/>
              </a:ext>
            </a:extLst>
          </p:cNvPr>
          <p:cNvSpPr/>
          <p:nvPr/>
        </p:nvSpPr>
        <p:spPr bwMode="auto">
          <a:xfrm>
            <a:off x="65724" y="20864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620669-86BB-484E-9E90-9E7D5FD9D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1031"/>
            <a:ext cx="9144000" cy="380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4C7C-6559-4D57-895E-B2312324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B4DD48-8B06-4B0B-84A5-9C6DBF9D8352}"/>
              </a:ext>
            </a:extLst>
          </p:cNvPr>
          <p:cNvSpPr/>
          <p:nvPr/>
        </p:nvSpPr>
        <p:spPr bwMode="auto">
          <a:xfrm>
            <a:off x="762000" y="20864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Архитектура требований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644953-8058-411D-852A-892515A361F3}"/>
              </a:ext>
            </a:extLst>
          </p:cNvPr>
          <p:cNvSpPr/>
          <p:nvPr/>
        </p:nvSpPr>
        <p:spPr bwMode="auto">
          <a:xfrm>
            <a:off x="65724" y="20864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III.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AA720-DA08-4B42-9B71-453550FE5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0216"/>
            <a:ext cx="9144000" cy="368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45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77FDA6-3CA2-4CF2-A6C6-CF71A6B93E30}"/>
              </a:ext>
            </a:extLst>
          </p:cNvPr>
          <p:cNvSpPr/>
          <p:nvPr/>
        </p:nvSpPr>
        <p:spPr bwMode="auto">
          <a:xfrm>
            <a:off x="65724" y="5715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IV.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1C580-AD44-40B7-A62D-459FFD4A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4" y="671757"/>
            <a:ext cx="8026716" cy="39855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55BFAD-F0FF-450D-AA86-50D60515FDA2}"/>
              </a:ext>
            </a:extLst>
          </p:cNvPr>
          <p:cNvSpPr/>
          <p:nvPr/>
        </p:nvSpPr>
        <p:spPr bwMode="auto">
          <a:xfrm>
            <a:off x="762000" y="57150"/>
            <a:ext cx="8316276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Сценарии использования / признаки и степень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алетической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модальности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4141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77FDA6-3CA2-4CF2-A6C6-CF71A6B93E30}"/>
              </a:ext>
            </a:extLst>
          </p:cNvPr>
          <p:cNvSpPr/>
          <p:nvPr/>
        </p:nvSpPr>
        <p:spPr bwMode="auto">
          <a:xfrm>
            <a:off x="65724" y="5715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IV.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1C580-AD44-40B7-A62D-459FFD4AAC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742"/>
          <a:stretch/>
        </p:blipFill>
        <p:spPr>
          <a:xfrm>
            <a:off x="362904" y="671757"/>
            <a:ext cx="8026716" cy="5283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5A0D43-FF65-4EB9-8512-4A05FC5C3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3950"/>
            <a:ext cx="7848600" cy="36256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E83E71-1627-43D1-8296-A5465F374D51}"/>
              </a:ext>
            </a:extLst>
          </p:cNvPr>
          <p:cNvSpPr/>
          <p:nvPr/>
        </p:nvSpPr>
        <p:spPr bwMode="auto">
          <a:xfrm>
            <a:off x="762000" y="57150"/>
            <a:ext cx="8316276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Сценарии использования / признаки и степень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алетической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модальности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9133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77FDA6-3CA2-4CF2-A6C6-CF71A6B93E30}"/>
              </a:ext>
            </a:extLst>
          </p:cNvPr>
          <p:cNvSpPr/>
          <p:nvPr/>
        </p:nvSpPr>
        <p:spPr bwMode="auto">
          <a:xfrm>
            <a:off x="65724" y="5715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IV.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F1C580-AD44-40B7-A62D-459FFD4AAC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742"/>
          <a:stretch/>
        </p:blipFill>
        <p:spPr>
          <a:xfrm>
            <a:off x="362904" y="671757"/>
            <a:ext cx="8026716" cy="5283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6FD086-7262-45C4-96E5-8D90DE4C5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00150"/>
            <a:ext cx="7848600" cy="30269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7C71C28-2DF8-4DE1-8592-5D765C05FC6B}"/>
              </a:ext>
            </a:extLst>
          </p:cNvPr>
          <p:cNvSpPr/>
          <p:nvPr/>
        </p:nvSpPr>
        <p:spPr bwMode="auto">
          <a:xfrm>
            <a:off x="762000" y="57150"/>
            <a:ext cx="434340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Сценарии использования и признаки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6AE849-16F8-4A83-86AE-CEA23910AFA7}"/>
              </a:ext>
            </a:extLst>
          </p:cNvPr>
          <p:cNvSpPr/>
          <p:nvPr/>
        </p:nvSpPr>
        <p:spPr bwMode="auto">
          <a:xfrm>
            <a:off x="762000" y="57150"/>
            <a:ext cx="8316276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Сценарии использования / признаки и степень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алетической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модальности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7190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продуктовых характеристик</a:t>
            </a:r>
            <a:endParaRPr lang="en-US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2E09CA1-8C92-4646-AE3E-CDB182489B86}"/>
              </a:ext>
            </a:extLst>
          </p:cNvPr>
          <p:cNvSpPr>
            <a:spLocks noEditPoints="1"/>
          </p:cNvSpPr>
          <p:nvPr/>
        </p:nvSpPr>
        <p:spPr bwMode="auto">
          <a:xfrm>
            <a:off x="5411152" y="1145788"/>
            <a:ext cx="3328988" cy="332898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tx1">
              <a:lumMod val="10000"/>
              <a:lumOff val="90000"/>
              <a:alpha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C291BBA4-0C45-4D25-8388-35B7259BE2A2}"/>
              </a:ext>
            </a:extLst>
          </p:cNvPr>
          <p:cNvSpPr>
            <a:spLocks noEditPoints="1"/>
          </p:cNvSpPr>
          <p:nvPr/>
        </p:nvSpPr>
        <p:spPr bwMode="auto">
          <a:xfrm>
            <a:off x="6085522" y="1820158"/>
            <a:ext cx="1980248" cy="198024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63609B37-9F07-476A-A0FC-C4C1E9D5BA8C}"/>
              </a:ext>
            </a:extLst>
          </p:cNvPr>
          <p:cNvSpPr txBox="1">
            <a:spLocks/>
          </p:cNvSpPr>
          <p:nvPr/>
        </p:nvSpPr>
        <p:spPr>
          <a:xfrm>
            <a:off x="987754" y="825173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+mj-lt"/>
              </a:rPr>
              <a:t>Must-Have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приоритизируются</a:t>
            </a: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в первую очередь при MVP.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66F0EB-8E38-4976-9B73-890A82AE0CA5}"/>
              </a:ext>
            </a:extLst>
          </p:cNvPr>
          <p:cNvGrpSpPr/>
          <p:nvPr/>
        </p:nvGrpSpPr>
        <p:grpSpPr>
          <a:xfrm>
            <a:off x="388620" y="819150"/>
            <a:ext cx="474222" cy="474222"/>
            <a:chOff x="2133600" y="3181350"/>
            <a:chExt cx="1362075" cy="1362075"/>
          </a:xfrm>
          <a:solidFill>
            <a:schemeClr val="accent1"/>
          </a:solidFill>
        </p:grpSpPr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8E3D36C3-363F-481A-8ADE-4066CA776E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9074BDD4-4A1E-42CF-9065-007B9C008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BEFA9BA1-4371-41B6-8217-66502FA3E7D8}"/>
              </a:ext>
            </a:extLst>
          </p:cNvPr>
          <p:cNvSpPr txBox="1">
            <a:spLocks/>
          </p:cNvSpPr>
          <p:nvPr/>
        </p:nvSpPr>
        <p:spPr>
          <a:xfrm>
            <a:off x="987754" y="1387997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  <a:latin typeface="+mj-lt"/>
              </a:rPr>
              <a:t>Delighters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хорошо работают на этапе роста или удержания.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7914CA-7591-41CE-84B1-31503A44F1A1}"/>
              </a:ext>
            </a:extLst>
          </p:cNvPr>
          <p:cNvGrpSpPr/>
          <p:nvPr/>
        </p:nvGrpSpPr>
        <p:grpSpPr>
          <a:xfrm>
            <a:off x="388620" y="1377356"/>
            <a:ext cx="474222" cy="474222"/>
            <a:chOff x="2133600" y="3181350"/>
            <a:chExt cx="1362075" cy="1362075"/>
          </a:xfrm>
          <a:solidFill>
            <a:schemeClr val="accent2"/>
          </a:solidFill>
        </p:grpSpPr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4CB0E91A-9C68-453A-8314-382E35DBEB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9DE1E48C-B311-41B1-991A-6A9F6F948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911341F2-6393-4BA3-97A2-B5E6878C22BE}"/>
              </a:ext>
            </a:extLst>
          </p:cNvPr>
          <p:cNvSpPr txBox="1">
            <a:spLocks/>
          </p:cNvSpPr>
          <p:nvPr/>
        </p:nvSpPr>
        <p:spPr>
          <a:xfrm>
            <a:off x="987754" y="1936041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3"/>
                </a:solidFill>
                <a:latin typeface="+mj-lt"/>
              </a:rPr>
              <a:t>Killer Features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основа позиционирования и конкурентного преимущества.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1F2812-3A75-4EA2-8FBB-2F68FAC12F6C}"/>
              </a:ext>
            </a:extLst>
          </p:cNvPr>
          <p:cNvGrpSpPr/>
          <p:nvPr/>
        </p:nvGrpSpPr>
        <p:grpSpPr>
          <a:xfrm>
            <a:off x="388620" y="1931400"/>
            <a:ext cx="474222" cy="474222"/>
            <a:chOff x="2133600" y="3181350"/>
            <a:chExt cx="1362075" cy="1362075"/>
          </a:xfrm>
          <a:solidFill>
            <a:schemeClr val="accent3"/>
          </a:solidFill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2346223-84A2-4B29-987C-F4578210E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84BC16C-F0BC-4806-84E8-6D6EE5BEC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2" name="Inhaltsplatzhalter 4">
            <a:extLst>
              <a:ext uri="{FF2B5EF4-FFF2-40B4-BE49-F238E27FC236}">
                <a16:creationId xmlns:a16="http://schemas.microsoft.com/office/drawing/2014/main" id="{220F9C6F-CD6A-4C52-AC19-D0210F9FF484}"/>
              </a:ext>
            </a:extLst>
          </p:cNvPr>
          <p:cNvSpPr txBox="1">
            <a:spLocks/>
          </p:cNvSpPr>
          <p:nvPr/>
        </p:nvSpPr>
        <p:spPr>
          <a:xfrm>
            <a:off x="975054" y="2499330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  <a:latin typeface="+mj-lt"/>
              </a:rPr>
              <a:t>Performance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можно не разрабатывать.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B8B031-F693-4171-976A-B32AA24CD17F}"/>
              </a:ext>
            </a:extLst>
          </p:cNvPr>
          <p:cNvGrpSpPr/>
          <p:nvPr/>
        </p:nvGrpSpPr>
        <p:grpSpPr>
          <a:xfrm>
            <a:off x="375920" y="2490501"/>
            <a:ext cx="474222" cy="474222"/>
            <a:chOff x="2133600" y="3181350"/>
            <a:chExt cx="1362075" cy="1362075"/>
          </a:xfrm>
          <a:solidFill>
            <a:schemeClr val="accent4"/>
          </a:solidFill>
        </p:grpSpPr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D3CCA621-5869-430A-BA4E-6A2205A5BB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56759C18-0ABF-4D78-A46C-7AE0CD3E8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6" name="Inhaltsplatzhalter 4">
            <a:extLst>
              <a:ext uri="{FF2B5EF4-FFF2-40B4-BE49-F238E27FC236}">
                <a16:creationId xmlns:a16="http://schemas.microsoft.com/office/drawing/2014/main" id="{26EDD926-CD3B-4B74-8F0D-CBCE3E02460C}"/>
              </a:ext>
            </a:extLst>
          </p:cNvPr>
          <p:cNvSpPr txBox="1">
            <a:spLocks/>
          </p:cNvSpPr>
          <p:nvPr/>
        </p:nvSpPr>
        <p:spPr>
          <a:xfrm>
            <a:off x="979408" y="3061707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5"/>
                </a:solidFill>
                <a:latin typeface="+mj-lt"/>
              </a:rPr>
              <a:t>Indifferent</a:t>
            </a:r>
            <a:r>
              <a:rPr lang="en-US" sz="1400" b="1" dirty="0">
                <a:solidFill>
                  <a:schemeClr val="accent4"/>
                </a:solidFill>
                <a:latin typeface="+mj-lt"/>
              </a:rPr>
              <a:t> 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постоянный фокус для оптимизации.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096EC1-6CEB-4752-B6D5-3AEEF7FF1550}"/>
              </a:ext>
            </a:extLst>
          </p:cNvPr>
          <p:cNvGrpSpPr/>
          <p:nvPr/>
        </p:nvGrpSpPr>
        <p:grpSpPr>
          <a:xfrm>
            <a:off x="380274" y="3052878"/>
            <a:ext cx="474222" cy="474222"/>
            <a:chOff x="2133600" y="3181350"/>
            <a:chExt cx="1362075" cy="1362075"/>
          </a:xfrm>
          <a:solidFill>
            <a:schemeClr val="accent5"/>
          </a:solidFill>
        </p:grpSpPr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C2301E11-16AF-46C6-820C-4F310C5B7D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1E6CA768-FF92-44D1-B59C-CAD5943B4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30" name="Inhaltsplatzhalter 4">
            <a:extLst>
              <a:ext uri="{FF2B5EF4-FFF2-40B4-BE49-F238E27FC236}">
                <a16:creationId xmlns:a16="http://schemas.microsoft.com/office/drawing/2014/main" id="{6E39DA37-0718-49E0-BC78-F7E1218FCF7E}"/>
              </a:ext>
            </a:extLst>
          </p:cNvPr>
          <p:cNvSpPr txBox="1">
            <a:spLocks/>
          </p:cNvSpPr>
          <p:nvPr/>
        </p:nvSpPr>
        <p:spPr>
          <a:xfrm>
            <a:off x="987754" y="3624084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accent6"/>
                </a:solidFill>
                <a:latin typeface="+mj-lt"/>
              </a:rPr>
              <a:t>Reverse</a:t>
            </a:r>
            <a:r>
              <a:rPr lang="en-US" sz="1400" b="1" dirty="0">
                <a:solidFill>
                  <a:schemeClr val="accent4"/>
                </a:solidFill>
                <a:latin typeface="+mj-lt"/>
              </a:rPr>
              <a:t> 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важно избегать или отключать.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520CB5E-A95D-44AB-9508-22D9B7C67155}"/>
              </a:ext>
            </a:extLst>
          </p:cNvPr>
          <p:cNvGrpSpPr/>
          <p:nvPr/>
        </p:nvGrpSpPr>
        <p:grpSpPr>
          <a:xfrm>
            <a:off x="388620" y="3615255"/>
            <a:ext cx="474222" cy="474222"/>
            <a:chOff x="2133600" y="3181350"/>
            <a:chExt cx="1362075" cy="1362075"/>
          </a:xfrm>
          <a:solidFill>
            <a:schemeClr val="accent6"/>
          </a:solidFill>
        </p:grpSpPr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B93126AC-C401-4DC8-A6FD-1A4D6E2BCD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5ED10120-72EC-44A8-8B4A-B2998163F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F742CB65-92AC-404E-9847-E024952A7B9D}"/>
              </a:ext>
            </a:extLst>
          </p:cNvPr>
          <p:cNvSpPr txBox="1">
            <a:spLocks/>
          </p:cNvSpPr>
          <p:nvPr/>
        </p:nvSpPr>
        <p:spPr>
          <a:xfrm>
            <a:off x="987754" y="4186461"/>
            <a:ext cx="3965246" cy="4621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j-lt"/>
              </a:rPr>
              <a:t>Experimental</a:t>
            </a:r>
            <a:r>
              <a:rPr lang="en-US" sz="1400" b="1" dirty="0">
                <a:solidFill>
                  <a:schemeClr val="accent4"/>
                </a:solidFill>
                <a:latin typeface="+mj-lt"/>
              </a:rPr>
              <a:t> </a:t>
            </a:r>
            <a:br>
              <a:rPr lang="en-US" sz="1400" b="1" dirty="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запускаются в A/B-тестах и бета-режимах.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633FE29-0FCC-4659-8EE8-675A62A0368B}"/>
              </a:ext>
            </a:extLst>
          </p:cNvPr>
          <p:cNvGrpSpPr/>
          <p:nvPr/>
        </p:nvGrpSpPr>
        <p:grpSpPr>
          <a:xfrm>
            <a:off x="388620" y="4177632"/>
            <a:ext cx="474222" cy="474222"/>
            <a:chOff x="2133600" y="3181350"/>
            <a:chExt cx="1362075" cy="1362075"/>
          </a:xfrm>
          <a:solidFill>
            <a:schemeClr val="tx1"/>
          </a:solidFill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A758B6FC-E81C-4038-A44D-81D6F90202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3181350"/>
              <a:ext cx="1362075" cy="1362075"/>
            </a:xfrm>
            <a:custGeom>
              <a:avLst/>
              <a:gdLst>
                <a:gd name="T0" fmla="*/ 1428 w 3432"/>
                <a:gd name="T1" fmla="*/ 253 h 3432"/>
                <a:gd name="T2" fmla="*/ 1073 w 3432"/>
                <a:gd name="T3" fmla="*/ 371 h 3432"/>
                <a:gd name="T4" fmla="*/ 763 w 3432"/>
                <a:gd name="T5" fmla="*/ 570 h 3432"/>
                <a:gd name="T6" fmla="*/ 513 w 3432"/>
                <a:gd name="T7" fmla="*/ 836 h 3432"/>
                <a:gd name="T8" fmla="*/ 334 w 3432"/>
                <a:gd name="T9" fmla="*/ 1158 h 3432"/>
                <a:gd name="T10" fmla="*/ 237 w 3432"/>
                <a:gd name="T11" fmla="*/ 1522 h 3432"/>
                <a:gd name="T12" fmla="*/ 237 w 3432"/>
                <a:gd name="T13" fmla="*/ 1910 h 3432"/>
                <a:gd name="T14" fmla="*/ 334 w 3432"/>
                <a:gd name="T15" fmla="*/ 2274 h 3432"/>
                <a:gd name="T16" fmla="*/ 513 w 3432"/>
                <a:gd name="T17" fmla="*/ 2596 h 3432"/>
                <a:gd name="T18" fmla="*/ 763 w 3432"/>
                <a:gd name="T19" fmla="*/ 2862 h 3432"/>
                <a:gd name="T20" fmla="*/ 1073 w 3432"/>
                <a:gd name="T21" fmla="*/ 3061 h 3432"/>
                <a:gd name="T22" fmla="*/ 1428 w 3432"/>
                <a:gd name="T23" fmla="*/ 3179 h 3432"/>
                <a:gd name="T24" fmla="*/ 1814 w 3432"/>
                <a:gd name="T25" fmla="*/ 3204 h 3432"/>
                <a:gd name="T26" fmla="*/ 2187 w 3432"/>
                <a:gd name="T27" fmla="*/ 3130 h 3432"/>
                <a:gd name="T28" fmla="*/ 2520 w 3432"/>
                <a:gd name="T29" fmla="*/ 2971 h 3432"/>
                <a:gd name="T30" fmla="*/ 2802 w 3432"/>
                <a:gd name="T31" fmla="*/ 2737 h 3432"/>
                <a:gd name="T32" fmla="*/ 3018 w 3432"/>
                <a:gd name="T33" fmla="*/ 2441 h 3432"/>
                <a:gd name="T34" fmla="*/ 3157 w 3432"/>
                <a:gd name="T35" fmla="*/ 2097 h 3432"/>
                <a:gd name="T36" fmla="*/ 3207 w 3432"/>
                <a:gd name="T37" fmla="*/ 1716 h 3432"/>
                <a:gd name="T38" fmla="*/ 3157 w 3432"/>
                <a:gd name="T39" fmla="*/ 1335 h 3432"/>
                <a:gd name="T40" fmla="*/ 3018 w 3432"/>
                <a:gd name="T41" fmla="*/ 991 h 3432"/>
                <a:gd name="T42" fmla="*/ 2802 w 3432"/>
                <a:gd name="T43" fmla="*/ 695 h 3432"/>
                <a:gd name="T44" fmla="*/ 2520 w 3432"/>
                <a:gd name="T45" fmla="*/ 461 h 3432"/>
                <a:gd name="T46" fmla="*/ 2187 w 3432"/>
                <a:gd name="T47" fmla="*/ 302 h 3432"/>
                <a:gd name="T48" fmla="*/ 1814 w 3432"/>
                <a:gd name="T49" fmla="*/ 228 h 3432"/>
                <a:gd name="T50" fmla="*/ 1923 w 3432"/>
                <a:gd name="T51" fmla="*/ 12 h 3432"/>
                <a:gd name="T52" fmla="*/ 2314 w 3432"/>
                <a:gd name="T53" fmla="*/ 107 h 3432"/>
                <a:gd name="T54" fmla="*/ 2664 w 3432"/>
                <a:gd name="T55" fmla="*/ 287 h 3432"/>
                <a:gd name="T56" fmla="*/ 2963 w 3432"/>
                <a:gd name="T57" fmla="*/ 538 h 3432"/>
                <a:gd name="T58" fmla="*/ 3197 w 3432"/>
                <a:gd name="T59" fmla="*/ 851 h 3432"/>
                <a:gd name="T60" fmla="*/ 3356 w 3432"/>
                <a:gd name="T61" fmla="*/ 1213 h 3432"/>
                <a:gd name="T62" fmla="*/ 3429 w 3432"/>
                <a:gd name="T63" fmla="*/ 1612 h 3432"/>
                <a:gd name="T64" fmla="*/ 3404 w 3432"/>
                <a:gd name="T65" fmla="*/ 2024 h 3432"/>
                <a:gd name="T66" fmla="*/ 3287 w 3432"/>
                <a:gd name="T67" fmla="*/ 2406 h 3432"/>
                <a:gd name="T68" fmla="*/ 3089 w 3432"/>
                <a:gd name="T69" fmla="*/ 2745 h 3432"/>
                <a:gd name="T70" fmla="*/ 2820 w 3432"/>
                <a:gd name="T71" fmla="*/ 3027 h 3432"/>
                <a:gd name="T72" fmla="*/ 2495 w 3432"/>
                <a:gd name="T73" fmla="*/ 3245 h 3432"/>
                <a:gd name="T74" fmla="*/ 2123 w 3432"/>
                <a:gd name="T75" fmla="*/ 3383 h 3432"/>
                <a:gd name="T76" fmla="*/ 1715 w 3432"/>
                <a:gd name="T77" fmla="*/ 3432 h 3432"/>
                <a:gd name="T78" fmla="*/ 1309 w 3432"/>
                <a:gd name="T79" fmla="*/ 3383 h 3432"/>
                <a:gd name="T80" fmla="*/ 937 w 3432"/>
                <a:gd name="T81" fmla="*/ 3245 h 3432"/>
                <a:gd name="T82" fmla="*/ 610 w 3432"/>
                <a:gd name="T83" fmla="*/ 3027 h 3432"/>
                <a:gd name="T84" fmla="*/ 343 w 3432"/>
                <a:gd name="T85" fmla="*/ 2745 h 3432"/>
                <a:gd name="T86" fmla="*/ 145 w 3432"/>
                <a:gd name="T87" fmla="*/ 2406 h 3432"/>
                <a:gd name="T88" fmla="*/ 28 w 3432"/>
                <a:gd name="T89" fmla="*/ 2024 h 3432"/>
                <a:gd name="T90" fmla="*/ 3 w 3432"/>
                <a:gd name="T91" fmla="*/ 1612 h 3432"/>
                <a:gd name="T92" fmla="*/ 76 w 3432"/>
                <a:gd name="T93" fmla="*/ 1213 h 3432"/>
                <a:gd name="T94" fmla="*/ 235 w 3432"/>
                <a:gd name="T95" fmla="*/ 851 h 3432"/>
                <a:gd name="T96" fmla="*/ 469 w 3432"/>
                <a:gd name="T97" fmla="*/ 538 h 3432"/>
                <a:gd name="T98" fmla="*/ 768 w 3432"/>
                <a:gd name="T99" fmla="*/ 287 h 3432"/>
                <a:gd name="T100" fmla="*/ 1118 w 3432"/>
                <a:gd name="T101" fmla="*/ 107 h 3432"/>
                <a:gd name="T102" fmla="*/ 1509 w 3432"/>
                <a:gd name="T103" fmla="*/ 12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432" h="3432">
                  <a:moveTo>
                    <a:pt x="1715" y="225"/>
                  </a:moveTo>
                  <a:lnTo>
                    <a:pt x="1618" y="228"/>
                  </a:lnTo>
                  <a:lnTo>
                    <a:pt x="1522" y="237"/>
                  </a:lnTo>
                  <a:lnTo>
                    <a:pt x="1428" y="253"/>
                  </a:lnTo>
                  <a:lnTo>
                    <a:pt x="1335" y="275"/>
                  </a:lnTo>
                  <a:lnTo>
                    <a:pt x="1245" y="302"/>
                  </a:lnTo>
                  <a:lnTo>
                    <a:pt x="1158" y="334"/>
                  </a:lnTo>
                  <a:lnTo>
                    <a:pt x="1073" y="371"/>
                  </a:lnTo>
                  <a:lnTo>
                    <a:pt x="991" y="414"/>
                  </a:lnTo>
                  <a:lnTo>
                    <a:pt x="912" y="461"/>
                  </a:lnTo>
                  <a:lnTo>
                    <a:pt x="836" y="513"/>
                  </a:lnTo>
                  <a:lnTo>
                    <a:pt x="763" y="570"/>
                  </a:lnTo>
                  <a:lnTo>
                    <a:pt x="695" y="630"/>
                  </a:lnTo>
                  <a:lnTo>
                    <a:pt x="630" y="695"/>
                  </a:lnTo>
                  <a:lnTo>
                    <a:pt x="570" y="763"/>
                  </a:lnTo>
                  <a:lnTo>
                    <a:pt x="513" y="836"/>
                  </a:lnTo>
                  <a:lnTo>
                    <a:pt x="461" y="912"/>
                  </a:lnTo>
                  <a:lnTo>
                    <a:pt x="414" y="991"/>
                  </a:lnTo>
                  <a:lnTo>
                    <a:pt x="371" y="1073"/>
                  </a:lnTo>
                  <a:lnTo>
                    <a:pt x="334" y="1158"/>
                  </a:lnTo>
                  <a:lnTo>
                    <a:pt x="302" y="1245"/>
                  </a:lnTo>
                  <a:lnTo>
                    <a:pt x="275" y="1335"/>
                  </a:lnTo>
                  <a:lnTo>
                    <a:pt x="253" y="1428"/>
                  </a:lnTo>
                  <a:lnTo>
                    <a:pt x="237" y="1522"/>
                  </a:lnTo>
                  <a:lnTo>
                    <a:pt x="228" y="1618"/>
                  </a:lnTo>
                  <a:lnTo>
                    <a:pt x="225" y="1716"/>
                  </a:lnTo>
                  <a:lnTo>
                    <a:pt x="228" y="1814"/>
                  </a:lnTo>
                  <a:lnTo>
                    <a:pt x="237" y="1910"/>
                  </a:lnTo>
                  <a:lnTo>
                    <a:pt x="253" y="2004"/>
                  </a:lnTo>
                  <a:lnTo>
                    <a:pt x="275" y="2097"/>
                  </a:lnTo>
                  <a:lnTo>
                    <a:pt x="302" y="2187"/>
                  </a:lnTo>
                  <a:lnTo>
                    <a:pt x="334" y="2274"/>
                  </a:lnTo>
                  <a:lnTo>
                    <a:pt x="371" y="2359"/>
                  </a:lnTo>
                  <a:lnTo>
                    <a:pt x="414" y="2441"/>
                  </a:lnTo>
                  <a:lnTo>
                    <a:pt x="461" y="2520"/>
                  </a:lnTo>
                  <a:lnTo>
                    <a:pt x="513" y="2596"/>
                  </a:lnTo>
                  <a:lnTo>
                    <a:pt x="570" y="2669"/>
                  </a:lnTo>
                  <a:lnTo>
                    <a:pt x="630" y="2737"/>
                  </a:lnTo>
                  <a:lnTo>
                    <a:pt x="695" y="2802"/>
                  </a:lnTo>
                  <a:lnTo>
                    <a:pt x="763" y="2862"/>
                  </a:lnTo>
                  <a:lnTo>
                    <a:pt x="836" y="2919"/>
                  </a:lnTo>
                  <a:lnTo>
                    <a:pt x="912" y="2971"/>
                  </a:lnTo>
                  <a:lnTo>
                    <a:pt x="991" y="3018"/>
                  </a:lnTo>
                  <a:lnTo>
                    <a:pt x="1073" y="3061"/>
                  </a:lnTo>
                  <a:lnTo>
                    <a:pt x="1158" y="3098"/>
                  </a:lnTo>
                  <a:lnTo>
                    <a:pt x="1245" y="3130"/>
                  </a:lnTo>
                  <a:lnTo>
                    <a:pt x="1335" y="3157"/>
                  </a:lnTo>
                  <a:lnTo>
                    <a:pt x="1428" y="3179"/>
                  </a:lnTo>
                  <a:lnTo>
                    <a:pt x="1522" y="3195"/>
                  </a:lnTo>
                  <a:lnTo>
                    <a:pt x="1618" y="3204"/>
                  </a:lnTo>
                  <a:lnTo>
                    <a:pt x="1715" y="3207"/>
                  </a:lnTo>
                  <a:lnTo>
                    <a:pt x="1814" y="3204"/>
                  </a:lnTo>
                  <a:lnTo>
                    <a:pt x="1910" y="3195"/>
                  </a:lnTo>
                  <a:lnTo>
                    <a:pt x="2004" y="3179"/>
                  </a:lnTo>
                  <a:lnTo>
                    <a:pt x="2097" y="3157"/>
                  </a:lnTo>
                  <a:lnTo>
                    <a:pt x="2187" y="3130"/>
                  </a:lnTo>
                  <a:lnTo>
                    <a:pt x="2274" y="3098"/>
                  </a:lnTo>
                  <a:lnTo>
                    <a:pt x="2359" y="3061"/>
                  </a:lnTo>
                  <a:lnTo>
                    <a:pt x="2441" y="3018"/>
                  </a:lnTo>
                  <a:lnTo>
                    <a:pt x="2520" y="2971"/>
                  </a:lnTo>
                  <a:lnTo>
                    <a:pt x="2596" y="2919"/>
                  </a:lnTo>
                  <a:lnTo>
                    <a:pt x="2669" y="2862"/>
                  </a:lnTo>
                  <a:lnTo>
                    <a:pt x="2737" y="2802"/>
                  </a:lnTo>
                  <a:lnTo>
                    <a:pt x="2802" y="2737"/>
                  </a:lnTo>
                  <a:lnTo>
                    <a:pt x="2862" y="2669"/>
                  </a:lnTo>
                  <a:lnTo>
                    <a:pt x="2919" y="2596"/>
                  </a:lnTo>
                  <a:lnTo>
                    <a:pt x="2971" y="2520"/>
                  </a:lnTo>
                  <a:lnTo>
                    <a:pt x="3018" y="2441"/>
                  </a:lnTo>
                  <a:lnTo>
                    <a:pt x="3061" y="2359"/>
                  </a:lnTo>
                  <a:lnTo>
                    <a:pt x="3098" y="2274"/>
                  </a:lnTo>
                  <a:lnTo>
                    <a:pt x="3130" y="2187"/>
                  </a:lnTo>
                  <a:lnTo>
                    <a:pt x="3157" y="2097"/>
                  </a:lnTo>
                  <a:lnTo>
                    <a:pt x="3179" y="2004"/>
                  </a:lnTo>
                  <a:lnTo>
                    <a:pt x="3195" y="1910"/>
                  </a:lnTo>
                  <a:lnTo>
                    <a:pt x="3204" y="1814"/>
                  </a:lnTo>
                  <a:lnTo>
                    <a:pt x="3207" y="1716"/>
                  </a:lnTo>
                  <a:lnTo>
                    <a:pt x="3204" y="1618"/>
                  </a:lnTo>
                  <a:lnTo>
                    <a:pt x="3195" y="1522"/>
                  </a:lnTo>
                  <a:lnTo>
                    <a:pt x="3179" y="1428"/>
                  </a:lnTo>
                  <a:lnTo>
                    <a:pt x="3157" y="1335"/>
                  </a:lnTo>
                  <a:lnTo>
                    <a:pt x="3130" y="1245"/>
                  </a:lnTo>
                  <a:lnTo>
                    <a:pt x="3098" y="1158"/>
                  </a:lnTo>
                  <a:lnTo>
                    <a:pt x="3061" y="1073"/>
                  </a:lnTo>
                  <a:lnTo>
                    <a:pt x="3018" y="991"/>
                  </a:lnTo>
                  <a:lnTo>
                    <a:pt x="2971" y="912"/>
                  </a:lnTo>
                  <a:lnTo>
                    <a:pt x="2919" y="836"/>
                  </a:lnTo>
                  <a:lnTo>
                    <a:pt x="2862" y="763"/>
                  </a:lnTo>
                  <a:lnTo>
                    <a:pt x="2802" y="695"/>
                  </a:lnTo>
                  <a:lnTo>
                    <a:pt x="2737" y="630"/>
                  </a:lnTo>
                  <a:lnTo>
                    <a:pt x="2669" y="570"/>
                  </a:lnTo>
                  <a:lnTo>
                    <a:pt x="2596" y="513"/>
                  </a:lnTo>
                  <a:lnTo>
                    <a:pt x="2520" y="461"/>
                  </a:lnTo>
                  <a:lnTo>
                    <a:pt x="2441" y="414"/>
                  </a:lnTo>
                  <a:lnTo>
                    <a:pt x="2359" y="371"/>
                  </a:lnTo>
                  <a:lnTo>
                    <a:pt x="2274" y="334"/>
                  </a:lnTo>
                  <a:lnTo>
                    <a:pt x="2187" y="302"/>
                  </a:lnTo>
                  <a:lnTo>
                    <a:pt x="2097" y="275"/>
                  </a:lnTo>
                  <a:lnTo>
                    <a:pt x="2004" y="253"/>
                  </a:lnTo>
                  <a:lnTo>
                    <a:pt x="1910" y="237"/>
                  </a:lnTo>
                  <a:lnTo>
                    <a:pt x="1814" y="228"/>
                  </a:lnTo>
                  <a:lnTo>
                    <a:pt x="1715" y="225"/>
                  </a:lnTo>
                  <a:close/>
                  <a:moveTo>
                    <a:pt x="1715" y="0"/>
                  </a:moveTo>
                  <a:lnTo>
                    <a:pt x="1820" y="3"/>
                  </a:lnTo>
                  <a:lnTo>
                    <a:pt x="1923" y="12"/>
                  </a:lnTo>
                  <a:lnTo>
                    <a:pt x="2024" y="28"/>
                  </a:lnTo>
                  <a:lnTo>
                    <a:pt x="2123" y="49"/>
                  </a:lnTo>
                  <a:lnTo>
                    <a:pt x="2219" y="76"/>
                  </a:lnTo>
                  <a:lnTo>
                    <a:pt x="2314" y="107"/>
                  </a:lnTo>
                  <a:lnTo>
                    <a:pt x="2406" y="145"/>
                  </a:lnTo>
                  <a:lnTo>
                    <a:pt x="2495" y="187"/>
                  </a:lnTo>
                  <a:lnTo>
                    <a:pt x="2581" y="235"/>
                  </a:lnTo>
                  <a:lnTo>
                    <a:pt x="2664" y="287"/>
                  </a:lnTo>
                  <a:lnTo>
                    <a:pt x="2745" y="343"/>
                  </a:lnTo>
                  <a:lnTo>
                    <a:pt x="2820" y="405"/>
                  </a:lnTo>
                  <a:lnTo>
                    <a:pt x="2894" y="469"/>
                  </a:lnTo>
                  <a:lnTo>
                    <a:pt x="2963" y="538"/>
                  </a:lnTo>
                  <a:lnTo>
                    <a:pt x="3027" y="612"/>
                  </a:lnTo>
                  <a:lnTo>
                    <a:pt x="3089" y="687"/>
                  </a:lnTo>
                  <a:lnTo>
                    <a:pt x="3145" y="768"/>
                  </a:lnTo>
                  <a:lnTo>
                    <a:pt x="3197" y="851"/>
                  </a:lnTo>
                  <a:lnTo>
                    <a:pt x="3245" y="937"/>
                  </a:lnTo>
                  <a:lnTo>
                    <a:pt x="3287" y="1026"/>
                  </a:lnTo>
                  <a:lnTo>
                    <a:pt x="3325" y="1118"/>
                  </a:lnTo>
                  <a:lnTo>
                    <a:pt x="3356" y="1213"/>
                  </a:lnTo>
                  <a:lnTo>
                    <a:pt x="3383" y="1309"/>
                  </a:lnTo>
                  <a:lnTo>
                    <a:pt x="3404" y="1408"/>
                  </a:lnTo>
                  <a:lnTo>
                    <a:pt x="3420" y="1509"/>
                  </a:lnTo>
                  <a:lnTo>
                    <a:pt x="3429" y="1612"/>
                  </a:lnTo>
                  <a:lnTo>
                    <a:pt x="3432" y="1716"/>
                  </a:lnTo>
                  <a:lnTo>
                    <a:pt x="3429" y="1820"/>
                  </a:lnTo>
                  <a:lnTo>
                    <a:pt x="3420" y="1923"/>
                  </a:lnTo>
                  <a:lnTo>
                    <a:pt x="3404" y="2024"/>
                  </a:lnTo>
                  <a:lnTo>
                    <a:pt x="3383" y="2123"/>
                  </a:lnTo>
                  <a:lnTo>
                    <a:pt x="3356" y="2219"/>
                  </a:lnTo>
                  <a:lnTo>
                    <a:pt x="3325" y="2314"/>
                  </a:lnTo>
                  <a:lnTo>
                    <a:pt x="3287" y="2406"/>
                  </a:lnTo>
                  <a:lnTo>
                    <a:pt x="3245" y="2495"/>
                  </a:lnTo>
                  <a:lnTo>
                    <a:pt x="3197" y="2581"/>
                  </a:lnTo>
                  <a:lnTo>
                    <a:pt x="3145" y="2664"/>
                  </a:lnTo>
                  <a:lnTo>
                    <a:pt x="3089" y="2745"/>
                  </a:lnTo>
                  <a:lnTo>
                    <a:pt x="3027" y="2820"/>
                  </a:lnTo>
                  <a:lnTo>
                    <a:pt x="2963" y="2894"/>
                  </a:lnTo>
                  <a:lnTo>
                    <a:pt x="2894" y="2963"/>
                  </a:lnTo>
                  <a:lnTo>
                    <a:pt x="2820" y="3027"/>
                  </a:lnTo>
                  <a:lnTo>
                    <a:pt x="2745" y="3089"/>
                  </a:lnTo>
                  <a:lnTo>
                    <a:pt x="2664" y="3145"/>
                  </a:lnTo>
                  <a:lnTo>
                    <a:pt x="2581" y="3197"/>
                  </a:lnTo>
                  <a:lnTo>
                    <a:pt x="2495" y="3245"/>
                  </a:lnTo>
                  <a:lnTo>
                    <a:pt x="2406" y="3287"/>
                  </a:lnTo>
                  <a:lnTo>
                    <a:pt x="2314" y="3325"/>
                  </a:lnTo>
                  <a:lnTo>
                    <a:pt x="2219" y="3356"/>
                  </a:lnTo>
                  <a:lnTo>
                    <a:pt x="2123" y="3383"/>
                  </a:lnTo>
                  <a:lnTo>
                    <a:pt x="2024" y="3404"/>
                  </a:lnTo>
                  <a:lnTo>
                    <a:pt x="1923" y="3420"/>
                  </a:lnTo>
                  <a:lnTo>
                    <a:pt x="1820" y="3429"/>
                  </a:lnTo>
                  <a:lnTo>
                    <a:pt x="1715" y="3432"/>
                  </a:lnTo>
                  <a:lnTo>
                    <a:pt x="1612" y="3429"/>
                  </a:lnTo>
                  <a:lnTo>
                    <a:pt x="1509" y="3420"/>
                  </a:lnTo>
                  <a:lnTo>
                    <a:pt x="1408" y="3404"/>
                  </a:lnTo>
                  <a:lnTo>
                    <a:pt x="1309" y="3383"/>
                  </a:lnTo>
                  <a:lnTo>
                    <a:pt x="1213" y="3356"/>
                  </a:lnTo>
                  <a:lnTo>
                    <a:pt x="1118" y="3325"/>
                  </a:lnTo>
                  <a:lnTo>
                    <a:pt x="1025" y="3287"/>
                  </a:lnTo>
                  <a:lnTo>
                    <a:pt x="937" y="3245"/>
                  </a:lnTo>
                  <a:lnTo>
                    <a:pt x="851" y="3197"/>
                  </a:lnTo>
                  <a:lnTo>
                    <a:pt x="768" y="3145"/>
                  </a:lnTo>
                  <a:lnTo>
                    <a:pt x="687" y="3089"/>
                  </a:lnTo>
                  <a:lnTo>
                    <a:pt x="610" y="3027"/>
                  </a:lnTo>
                  <a:lnTo>
                    <a:pt x="538" y="2963"/>
                  </a:lnTo>
                  <a:lnTo>
                    <a:pt x="469" y="2894"/>
                  </a:lnTo>
                  <a:lnTo>
                    <a:pt x="405" y="2820"/>
                  </a:lnTo>
                  <a:lnTo>
                    <a:pt x="343" y="2745"/>
                  </a:lnTo>
                  <a:lnTo>
                    <a:pt x="287" y="2664"/>
                  </a:lnTo>
                  <a:lnTo>
                    <a:pt x="235" y="2581"/>
                  </a:lnTo>
                  <a:lnTo>
                    <a:pt x="187" y="2495"/>
                  </a:lnTo>
                  <a:lnTo>
                    <a:pt x="145" y="2406"/>
                  </a:lnTo>
                  <a:lnTo>
                    <a:pt x="107" y="2314"/>
                  </a:lnTo>
                  <a:lnTo>
                    <a:pt x="76" y="2219"/>
                  </a:lnTo>
                  <a:lnTo>
                    <a:pt x="49" y="2123"/>
                  </a:lnTo>
                  <a:lnTo>
                    <a:pt x="28" y="2024"/>
                  </a:lnTo>
                  <a:lnTo>
                    <a:pt x="12" y="1923"/>
                  </a:lnTo>
                  <a:lnTo>
                    <a:pt x="3" y="1820"/>
                  </a:lnTo>
                  <a:lnTo>
                    <a:pt x="0" y="1716"/>
                  </a:lnTo>
                  <a:lnTo>
                    <a:pt x="3" y="1612"/>
                  </a:lnTo>
                  <a:lnTo>
                    <a:pt x="12" y="1509"/>
                  </a:lnTo>
                  <a:lnTo>
                    <a:pt x="28" y="1408"/>
                  </a:lnTo>
                  <a:lnTo>
                    <a:pt x="49" y="1309"/>
                  </a:lnTo>
                  <a:lnTo>
                    <a:pt x="76" y="1213"/>
                  </a:lnTo>
                  <a:lnTo>
                    <a:pt x="107" y="1118"/>
                  </a:lnTo>
                  <a:lnTo>
                    <a:pt x="145" y="1026"/>
                  </a:lnTo>
                  <a:lnTo>
                    <a:pt x="187" y="937"/>
                  </a:lnTo>
                  <a:lnTo>
                    <a:pt x="235" y="851"/>
                  </a:lnTo>
                  <a:lnTo>
                    <a:pt x="287" y="768"/>
                  </a:lnTo>
                  <a:lnTo>
                    <a:pt x="343" y="687"/>
                  </a:lnTo>
                  <a:lnTo>
                    <a:pt x="405" y="612"/>
                  </a:lnTo>
                  <a:lnTo>
                    <a:pt x="469" y="538"/>
                  </a:lnTo>
                  <a:lnTo>
                    <a:pt x="538" y="469"/>
                  </a:lnTo>
                  <a:lnTo>
                    <a:pt x="610" y="405"/>
                  </a:lnTo>
                  <a:lnTo>
                    <a:pt x="687" y="343"/>
                  </a:lnTo>
                  <a:lnTo>
                    <a:pt x="768" y="287"/>
                  </a:lnTo>
                  <a:lnTo>
                    <a:pt x="851" y="235"/>
                  </a:lnTo>
                  <a:lnTo>
                    <a:pt x="937" y="187"/>
                  </a:lnTo>
                  <a:lnTo>
                    <a:pt x="1025" y="145"/>
                  </a:lnTo>
                  <a:lnTo>
                    <a:pt x="1118" y="107"/>
                  </a:lnTo>
                  <a:lnTo>
                    <a:pt x="1213" y="76"/>
                  </a:lnTo>
                  <a:lnTo>
                    <a:pt x="1309" y="49"/>
                  </a:lnTo>
                  <a:lnTo>
                    <a:pt x="1408" y="28"/>
                  </a:lnTo>
                  <a:lnTo>
                    <a:pt x="1509" y="12"/>
                  </a:lnTo>
                  <a:lnTo>
                    <a:pt x="1612" y="3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BFFAF9D2-F2B0-41D8-8D24-A6EF011F5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375" y="3625850"/>
              <a:ext cx="644525" cy="473075"/>
            </a:xfrm>
            <a:custGeom>
              <a:avLst/>
              <a:gdLst>
                <a:gd name="T0" fmla="*/ 1514 w 1626"/>
                <a:gd name="T1" fmla="*/ 0 h 1190"/>
                <a:gd name="T2" fmla="*/ 1536 w 1626"/>
                <a:gd name="T3" fmla="*/ 2 h 1190"/>
                <a:gd name="T4" fmla="*/ 1557 w 1626"/>
                <a:gd name="T5" fmla="*/ 8 h 1190"/>
                <a:gd name="T6" fmla="*/ 1575 w 1626"/>
                <a:gd name="T7" fmla="*/ 19 h 1190"/>
                <a:gd name="T8" fmla="*/ 1593 w 1626"/>
                <a:gd name="T9" fmla="*/ 33 h 1190"/>
                <a:gd name="T10" fmla="*/ 1608 w 1626"/>
                <a:gd name="T11" fmla="*/ 51 h 1190"/>
                <a:gd name="T12" fmla="*/ 1618 w 1626"/>
                <a:gd name="T13" fmla="*/ 71 h 1190"/>
                <a:gd name="T14" fmla="*/ 1624 w 1626"/>
                <a:gd name="T15" fmla="*/ 92 h 1190"/>
                <a:gd name="T16" fmla="*/ 1626 w 1626"/>
                <a:gd name="T17" fmla="*/ 112 h 1190"/>
                <a:gd name="T18" fmla="*/ 1624 w 1626"/>
                <a:gd name="T19" fmla="*/ 134 h 1190"/>
                <a:gd name="T20" fmla="*/ 1618 w 1626"/>
                <a:gd name="T21" fmla="*/ 155 h 1190"/>
                <a:gd name="T22" fmla="*/ 1608 w 1626"/>
                <a:gd name="T23" fmla="*/ 175 h 1190"/>
                <a:gd name="T24" fmla="*/ 1593 w 1626"/>
                <a:gd name="T25" fmla="*/ 193 h 1190"/>
                <a:gd name="T26" fmla="*/ 629 w 1626"/>
                <a:gd name="T27" fmla="*/ 1157 h 1190"/>
                <a:gd name="T28" fmla="*/ 629 w 1626"/>
                <a:gd name="T29" fmla="*/ 1157 h 1190"/>
                <a:gd name="T30" fmla="*/ 611 w 1626"/>
                <a:gd name="T31" fmla="*/ 1171 h 1190"/>
                <a:gd name="T32" fmla="*/ 591 w 1626"/>
                <a:gd name="T33" fmla="*/ 1182 h 1190"/>
                <a:gd name="T34" fmla="*/ 571 w 1626"/>
                <a:gd name="T35" fmla="*/ 1188 h 1190"/>
                <a:gd name="T36" fmla="*/ 550 w 1626"/>
                <a:gd name="T37" fmla="*/ 1190 h 1190"/>
                <a:gd name="T38" fmla="*/ 528 w 1626"/>
                <a:gd name="T39" fmla="*/ 1188 h 1190"/>
                <a:gd name="T40" fmla="*/ 507 w 1626"/>
                <a:gd name="T41" fmla="*/ 1182 h 1190"/>
                <a:gd name="T42" fmla="*/ 487 w 1626"/>
                <a:gd name="T43" fmla="*/ 1171 h 1190"/>
                <a:gd name="T44" fmla="*/ 470 w 1626"/>
                <a:gd name="T45" fmla="*/ 1157 h 1190"/>
                <a:gd name="T46" fmla="*/ 33 w 1626"/>
                <a:gd name="T47" fmla="*/ 720 h 1190"/>
                <a:gd name="T48" fmla="*/ 18 w 1626"/>
                <a:gd name="T49" fmla="*/ 702 h 1190"/>
                <a:gd name="T50" fmla="*/ 8 w 1626"/>
                <a:gd name="T51" fmla="*/ 682 h 1190"/>
                <a:gd name="T52" fmla="*/ 2 w 1626"/>
                <a:gd name="T53" fmla="*/ 662 h 1190"/>
                <a:gd name="T54" fmla="*/ 0 w 1626"/>
                <a:gd name="T55" fmla="*/ 640 h 1190"/>
                <a:gd name="T56" fmla="*/ 2 w 1626"/>
                <a:gd name="T57" fmla="*/ 619 h 1190"/>
                <a:gd name="T58" fmla="*/ 8 w 1626"/>
                <a:gd name="T59" fmla="*/ 598 h 1190"/>
                <a:gd name="T60" fmla="*/ 18 w 1626"/>
                <a:gd name="T61" fmla="*/ 578 h 1190"/>
                <a:gd name="T62" fmla="*/ 33 w 1626"/>
                <a:gd name="T63" fmla="*/ 561 h 1190"/>
                <a:gd name="T64" fmla="*/ 51 w 1626"/>
                <a:gd name="T65" fmla="*/ 546 h 1190"/>
                <a:gd name="T66" fmla="*/ 69 w 1626"/>
                <a:gd name="T67" fmla="*/ 536 h 1190"/>
                <a:gd name="T68" fmla="*/ 90 w 1626"/>
                <a:gd name="T69" fmla="*/ 529 h 1190"/>
                <a:gd name="T70" fmla="*/ 112 w 1626"/>
                <a:gd name="T71" fmla="*/ 527 h 1190"/>
                <a:gd name="T72" fmla="*/ 134 w 1626"/>
                <a:gd name="T73" fmla="*/ 529 h 1190"/>
                <a:gd name="T74" fmla="*/ 155 w 1626"/>
                <a:gd name="T75" fmla="*/ 536 h 1190"/>
                <a:gd name="T76" fmla="*/ 174 w 1626"/>
                <a:gd name="T77" fmla="*/ 546 h 1190"/>
                <a:gd name="T78" fmla="*/ 192 w 1626"/>
                <a:gd name="T79" fmla="*/ 561 h 1190"/>
                <a:gd name="T80" fmla="*/ 550 w 1626"/>
                <a:gd name="T81" fmla="*/ 918 h 1190"/>
                <a:gd name="T82" fmla="*/ 1434 w 1626"/>
                <a:gd name="T83" fmla="*/ 33 h 1190"/>
                <a:gd name="T84" fmla="*/ 1452 w 1626"/>
                <a:gd name="T85" fmla="*/ 19 h 1190"/>
                <a:gd name="T86" fmla="*/ 1471 w 1626"/>
                <a:gd name="T87" fmla="*/ 8 h 1190"/>
                <a:gd name="T88" fmla="*/ 1492 w 1626"/>
                <a:gd name="T89" fmla="*/ 2 h 1190"/>
                <a:gd name="T90" fmla="*/ 1514 w 1626"/>
                <a:gd name="T91" fmla="*/ 0 h 1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626" h="1190">
                  <a:moveTo>
                    <a:pt x="1514" y="0"/>
                  </a:moveTo>
                  <a:lnTo>
                    <a:pt x="1536" y="2"/>
                  </a:lnTo>
                  <a:lnTo>
                    <a:pt x="1557" y="8"/>
                  </a:lnTo>
                  <a:lnTo>
                    <a:pt x="1575" y="19"/>
                  </a:lnTo>
                  <a:lnTo>
                    <a:pt x="1593" y="33"/>
                  </a:lnTo>
                  <a:lnTo>
                    <a:pt x="1608" y="51"/>
                  </a:lnTo>
                  <a:lnTo>
                    <a:pt x="1618" y="71"/>
                  </a:lnTo>
                  <a:lnTo>
                    <a:pt x="1624" y="92"/>
                  </a:lnTo>
                  <a:lnTo>
                    <a:pt x="1626" y="112"/>
                  </a:lnTo>
                  <a:lnTo>
                    <a:pt x="1624" y="134"/>
                  </a:lnTo>
                  <a:lnTo>
                    <a:pt x="1618" y="155"/>
                  </a:lnTo>
                  <a:lnTo>
                    <a:pt x="1608" y="175"/>
                  </a:lnTo>
                  <a:lnTo>
                    <a:pt x="1593" y="193"/>
                  </a:lnTo>
                  <a:lnTo>
                    <a:pt x="629" y="1157"/>
                  </a:lnTo>
                  <a:lnTo>
                    <a:pt x="629" y="1157"/>
                  </a:lnTo>
                  <a:lnTo>
                    <a:pt x="611" y="1171"/>
                  </a:lnTo>
                  <a:lnTo>
                    <a:pt x="591" y="1182"/>
                  </a:lnTo>
                  <a:lnTo>
                    <a:pt x="571" y="1188"/>
                  </a:lnTo>
                  <a:lnTo>
                    <a:pt x="550" y="1190"/>
                  </a:lnTo>
                  <a:lnTo>
                    <a:pt x="528" y="1188"/>
                  </a:lnTo>
                  <a:lnTo>
                    <a:pt x="507" y="1182"/>
                  </a:lnTo>
                  <a:lnTo>
                    <a:pt x="487" y="1171"/>
                  </a:lnTo>
                  <a:lnTo>
                    <a:pt x="470" y="1157"/>
                  </a:lnTo>
                  <a:lnTo>
                    <a:pt x="33" y="720"/>
                  </a:lnTo>
                  <a:lnTo>
                    <a:pt x="18" y="702"/>
                  </a:lnTo>
                  <a:lnTo>
                    <a:pt x="8" y="682"/>
                  </a:lnTo>
                  <a:lnTo>
                    <a:pt x="2" y="662"/>
                  </a:lnTo>
                  <a:lnTo>
                    <a:pt x="0" y="640"/>
                  </a:lnTo>
                  <a:lnTo>
                    <a:pt x="2" y="619"/>
                  </a:lnTo>
                  <a:lnTo>
                    <a:pt x="8" y="598"/>
                  </a:lnTo>
                  <a:lnTo>
                    <a:pt x="18" y="578"/>
                  </a:lnTo>
                  <a:lnTo>
                    <a:pt x="33" y="561"/>
                  </a:lnTo>
                  <a:lnTo>
                    <a:pt x="51" y="546"/>
                  </a:lnTo>
                  <a:lnTo>
                    <a:pt x="69" y="536"/>
                  </a:lnTo>
                  <a:lnTo>
                    <a:pt x="90" y="529"/>
                  </a:lnTo>
                  <a:lnTo>
                    <a:pt x="112" y="527"/>
                  </a:lnTo>
                  <a:lnTo>
                    <a:pt x="134" y="529"/>
                  </a:lnTo>
                  <a:lnTo>
                    <a:pt x="155" y="536"/>
                  </a:lnTo>
                  <a:lnTo>
                    <a:pt x="174" y="546"/>
                  </a:lnTo>
                  <a:lnTo>
                    <a:pt x="192" y="561"/>
                  </a:lnTo>
                  <a:lnTo>
                    <a:pt x="550" y="918"/>
                  </a:lnTo>
                  <a:lnTo>
                    <a:pt x="1434" y="33"/>
                  </a:lnTo>
                  <a:lnTo>
                    <a:pt x="1452" y="19"/>
                  </a:lnTo>
                  <a:lnTo>
                    <a:pt x="1471" y="8"/>
                  </a:lnTo>
                  <a:lnTo>
                    <a:pt x="1492" y="2"/>
                  </a:lnTo>
                  <a:lnTo>
                    <a:pt x="15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35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7818" y="84456"/>
            <a:ext cx="8368363" cy="491836"/>
          </a:xfrm>
        </p:spPr>
        <p:txBody>
          <a:bodyPr/>
          <a:lstStyle/>
          <a:p>
            <a:r>
              <a:rPr lang="ru-RU" dirty="0"/>
              <a:t>Классификация продуктовых характеристик</a:t>
            </a:r>
            <a:endParaRPr lang="en-US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2E09CA1-8C92-4646-AE3E-CDB182489B86}"/>
              </a:ext>
            </a:extLst>
          </p:cNvPr>
          <p:cNvSpPr>
            <a:spLocks noEditPoints="1"/>
          </p:cNvSpPr>
          <p:nvPr/>
        </p:nvSpPr>
        <p:spPr bwMode="auto">
          <a:xfrm>
            <a:off x="5411152" y="1145788"/>
            <a:ext cx="3328988" cy="332898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tx1">
              <a:lumMod val="10000"/>
              <a:lumOff val="90000"/>
              <a:alpha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C291BBA4-0C45-4D25-8388-35B7259BE2A2}"/>
              </a:ext>
            </a:extLst>
          </p:cNvPr>
          <p:cNvSpPr>
            <a:spLocks noEditPoints="1"/>
          </p:cNvSpPr>
          <p:nvPr/>
        </p:nvSpPr>
        <p:spPr bwMode="auto">
          <a:xfrm>
            <a:off x="6085522" y="1820158"/>
            <a:ext cx="1980248" cy="1980248"/>
          </a:xfrm>
          <a:custGeom>
            <a:avLst/>
            <a:gdLst>
              <a:gd name="T0" fmla="*/ 1997 w 2048"/>
              <a:gd name="T1" fmla="*/ 390 h 2048"/>
              <a:gd name="T2" fmla="*/ 1960 w 2048"/>
              <a:gd name="T3" fmla="*/ 288 h 2048"/>
              <a:gd name="T4" fmla="*/ 1760 w 2048"/>
              <a:gd name="T5" fmla="*/ 88 h 2048"/>
              <a:gd name="T6" fmla="*/ 1658 w 2048"/>
              <a:gd name="T7" fmla="*/ 51 h 2048"/>
              <a:gd name="T8" fmla="*/ 1024 w 2048"/>
              <a:gd name="T9" fmla="*/ 0 h 2048"/>
              <a:gd name="T10" fmla="*/ 0 w 2048"/>
              <a:gd name="T11" fmla="*/ 1024 h 2048"/>
              <a:gd name="T12" fmla="*/ 1024 w 2048"/>
              <a:gd name="T13" fmla="*/ 2048 h 2048"/>
              <a:gd name="T14" fmla="*/ 2048 w 2048"/>
              <a:gd name="T15" fmla="*/ 1024 h 2048"/>
              <a:gd name="T16" fmla="*/ 1660 w 2048"/>
              <a:gd name="T17" fmla="*/ 333 h 2048"/>
              <a:gd name="T18" fmla="*/ 1821 w 2048"/>
              <a:gd name="T19" fmla="*/ 397 h 2048"/>
              <a:gd name="T20" fmla="*/ 1521 w 2048"/>
              <a:gd name="T21" fmla="*/ 527 h 2048"/>
              <a:gd name="T22" fmla="*/ 1651 w 2048"/>
              <a:gd name="T23" fmla="*/ 227 h 2048"/>
              <a:gd name="T24" fmla="*/ 1228 w 2048"/>
              <a:gd name="T25" fmla="*/ 1024 h 2048"/>
              <a:gd name="T26" fmla="*/ 820 w 2048"/>
              <a:gd name="T27" fmla="*/ 1024 h 2048"/>
              <a:gd name="T28" fmla="*/ 1119 w 2048"/>
              <a:gd name="T29" fmla="*/ 844 h 2048"/>
              <a:gd name="T30" fmla="*/ 982 w 2048"/>
              <a:gd name="T31" fmla="*/ 1066 h 2048"/>
              <a:gd name="T32" fmla="*/ 1066 w 2048"/>
              <a:gd name="T33" fmla="*/ 1066 h 2048"/>
              <a:gd name="T34" fmla="*/ 1228 w 2048"/>
              <a:gd name="T35" fmla="*/ 1024 h 2048"/>
              <a:gd name="T36" fmla="*/ 1024 w 2048"/>
              <a:gd name="T37" fmla="*/ 700 h 2048"/>
              <a:gd name="T38" fmla="*/ 1024 w 2048"/>
              <a:gd name="T39" fmla="*/ 1348 h 2048"/>
              <a:gd name="T40" fmla="*/ 1291 w 2048"/>
              <a:gd name="T41" fmla="*/ 841 h 2048"/>
              <a:gd name="T42" fmla="*/ 1588 w 2048"/>
              <a:gd name="T43" fmla="*/ 1024 h 2048"/>
              <a:gd name="T44" fmla="*/ 460 w 2048"/>
              <a:gd name="T45" fmla="*/ 1024 h 2048"/>
              <a:gd name="T46" fmla="*/ 1378 w 2048"/>
              <a:gd name="T47" fmla="*/ 585 h 2048"/>
              <a:gd name="T48" fmla="*/ 1663 w 2048"/>
              <a:gd name="T49" fmla="*/ 1663 h 2048"/>
              <a:gd name="T50" fmla="*/ 385 w 2048"/>
              <a:gd name="T51" fmla="*/ 1663 h 2048"/>
              <a:gd name="T52" fmla="*/ 385 w 2048"/>
              <a:gd name="T53" fmla="*/ 385 h 2048"/>
              <a:gd name="T54" fmla="*/ 1471 w 2048"/>
              <a:gd name="T55" fmla="*/ 238 h 2048"/>
              <a:gd name="T56" fmla="*/ 1385 w 2048"/>
              <a:gd name="T57" fmla="*/ 346 h 2048"/>
              <a:gd name="T58" fmla="*/ 1394 w 2048"/>
              <a:gd name="T59" fmla="*/ 449 h 2048"/>
              <a:gd name="T60" fmla="*/ 340 w 2048"/>
              <a:gd name="T61" fmla="*/ 1024 h 2048"/>
              <a:gd name="T62" fmla="*/ 1708 w 2048"/>
              <a:gd name="T63" fmla="*/ 1024 h 2048"/>
              <a:gd name="T64" fmla="*/ 1695 w 2048"/>
              <a:gd name="T65" fmla="*/ 662 h 2048"/>
              <a:gd name="T66" fmla="*/ 1701 w 2048"/>
              <a:gd name="T67" fmla="*/ 663 h 2048"/>
              <a:gd name="T68" fmla="*/ 1707 w 2048"/>
              <a:gd name="T69" fmla="*/ 662 h 2048"/>
              <a:gd name="T70" fmla="*/ 1713 w 2048"/>
              <a:gd name="T71" fmla="*/ 661 h 2048"/>
              <a:gd name="T72" fmla="*/ 1719 w 2048"/>
              <a:gd name="T73" fmla="*/ 659 h 2048"/>
              <a:gd name="T74" fmla="*/ 1725 w 2048"/>
              <a:gd name="T75" fmla="*/ 657 h 2048"/>
              <a:gd name="T76" fmla="*/ 1731 w 2048"/>
              <a:gd name="T77" fmla="*/ 654 h 2048"/>
              <a:gd name="T78" fmla="*/ 1736 w 2048"/>
              <a:gd name="T79" fmla="*/ 650 h 2048"/>
              <a:gd name="T80" fmla="*/ 1742 w 2048"/>
              <a:gd name="T81" fmla="*/ 645 h 2048"/>
              <a:gd name="T82" fmla="*/ 1928 w 2048"/>
              <a:gd name="T83" fmla="*/ 1024 h 2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048" h="2048">
                <a:moveTo>
                  <a:pt x="1898" y="490"/>
                </a:moveTo>
                <a:cubicBezTo>
                  <a:pt x="1997" y="390"/>
                  <a:pt x="1997" y="390"/>
                  <a:pt x="1997" y="390"/>
                </a:cubicBezTo>
                <a:cubicBezTo>
                  <a:pt x="2013" y="374"/>
                  <a:pt x="2019" y="349"/>
                  <a:pt x="2011" y="327"/>
                </a:cubicBezTo>
                <a:cubicBezTo>
                  <a:pt x="2003" y="305"/>
                  <a:pt x="1983" y="290"/>
                  <a:pt x="1960" y="288"/>
                </a:cubicBezTo>
                <a:cubicBezTo>
                  <a:pt x="1775" y="273"/>
                  <a:pt x="1775" y="273"/>
                  <a:pt x="1775" y="273"/>
                </a:cubicBezTo>
                <a:cubicBezTo>
                  <a:pt x="1760" y="88"/>
                  <a:pt x="1760" y="88"/>
                  <a:pt x="1760" y="88"/>
                </a:cubicBezTo>
                <a:cubicBezTo>
                  <a:pt x="1758" y="65"/>
                  <a:pt x="1743" y="45"/>
                  <a:pt x="1721" y="37"/>
                </a:cubicBezTo>
                <a:cubicBezTo>
                  <a:pt x="1699" y="29"/>
                  <a:pt x="1674" y="35"/>
                  <a:pt x="1658" y="51"/>
                </a:cubicBezTo>
                <a:cubicBezTo>
                  <a:pt x="1558" y="150"/>
                  <a:pt x="1558" y="150"/>
                  <a:pt x="1558" y="150"/>
                </a:cubicBezTo>
                <a:cubicBezTo>
                  <a:pt x="1398" y="52"/>
                  <a:pt x="1214" y="0"/>
                  <a:pt x="1024" y="0"/>
                </a:cubicBezTo>
                <a:cubicBezTo>
                  <a:pt x="750" y="0"/>
                  <a:pt x="493" y="107"/>
                  <a:pt x="300" y="300"/>
                </a:cubicBezTo>
                <a:cubicBezTo>
                  <a:pt x="107" y="493"/>
                  <a:pt x="0" y="750"/>
                  <a:pt x="0" y="1024"/>
                </a:cubicBezTo>
                <a:cubicBezTo>
                  <a:pt x="0" y="1298"/>
                  <a:pt x="107" y="1555"/>
                  <a:pt x="300" y="1748"/>
                </a:cubicBezTo>
                <a:cubicBezTo>
                  <a:pt x="493" y="1941"/>
                  <a:pt x="750" y="2048"/>
                  <a:pt x="1024" y="2048"/>
                </a:cubicBezTo>
                <a:cubicBezTo>
                  <a:pt x="1298" y="2048"/>
                  <a:pt x="1555" y="1941"/>
                  <a:pt x="1748" y="1748"/>
                </a:cubicBezTo>
                <a:cubicBezTo>
                  <a:pt x="1941" y="1555"/>
                  <a:pt x="2048" y="1298"/>
                  <a:pt x="2048" y="1024"/>
                </a:cubicBezTo>
                <a:cubicBezTo>
                  <a:pt x="2048" y="834"/>
                  <a:pt x="1996" y="650"/>
                  <a:pt x="1898" y="490"/>
                </a:cubicBezTo>
                <a:close/>
                <a:moveTo>
                  <a:pt x="1660" y="333"/>
                </a:moveTo>
                <a:cubicBezTo>
                  <a:pt x="1662" y="362"/>
                  <a:pt x="1686" y="386"/>
                  <a:pt x="1715" y="388"/>
                </a:cubicBezTo>
                <a:cubicBezTo>
                  <a:pt x="1821" y="397"/>
                  <a:pt x="1821" y="397"/>
                  <a:pt x="1821" y="397"/>
                </a:cubicBezTo>
                <a:cubicBezTo>
                  <a:pt x="1677" y="540"/>
                  <a:pt x="1677" y="540"/>
                  <a:pt x="1677" y="540"/>
                </a:cubicBezTo>
                <a:cubicBezTo>
                  <a:pt x="1521" y="527"/>
                  <a:pt x="1521" y="527"/>
                  <a:pt x="1521" y="527"/>
                </a:cubicBezTo>
                <a:cubicBezTo>
                  <a:pt x="1508" y="371"/>
                  <a:pt x="1508" y="371"/>
                  <a:pt x="1508" y="371"/>
                </a:cubicBezTo>
                <a:cubicBezTo>
                  <a:pt x="1651" y="227"/>
                  <a:pt x="1651" y="227"/>
                  <a:pt x="1651" y="227"/>
                </a:cubicBezTo>
                <a:lnTo>
                  <a:pt x="1660" y="333"/>
                </a:lnTo>
                <a:close/>
                <a:moveTo>
                  <a:pt x="1228" y="1024"/>
                </a:moveTo>
                <a:cubicBezTo>
                  <a:pt x="1228" y="1136"/>
                  <a:pt x="1136" y="1228"/>
                  <a:pt x="1024" y="1228"/>
                </a:cubicBezTo>
                <a:cubicBezTo>
                  <a:pt x="912" y="1228"/>
                  <a:pt x="820" y="1136"/>
                  <a:pt x="820" y="1024"/>
                </a:cubicBezTo>
                <a:cubicBezTo>
                  <a:pt x="820" y="912"/>
                  <a:pt x="912" y="820"/>
                  <a:pt x="1024" y="820"/>
                </a:cubicBezTo>
                <a:cubicBezTo>
                  <a:pt x="1058" y="820"/>
                  <a:pt x="1091" y="829"/>
                  <a:pt x="1119" y="844"/>
                </a:cubicBezTo>
                <a:cubicBezTo>
                  <a:pt x="982" y="982"/>
                  <a:pt x="982" y="982"/>
                  <a:pt x="982" y="982"/>
                </a:cubicBezTo>
                <a:cubicBezTo>
                  <a:pt x="958" y="1005"/>
                  <a:pt x="958" y="1043"/>
                  <a:pt x="982" y="1066"/>
                </a:cubicBezTo>
                <a:cubicBezTo>
                  <a:pt x="993" y="1078"/>
                  <a:pt x="1009" y="1084"/>
                  <a:pt x="1024" y="1084"/>
                </a:cubicBezTo>
                <a:cubicBezTo>
                  <a:pt x="1039" y="1084"/>
                  <a:pt x="1055" y="1078"/>
                  <a:pt x="1066" y="1066"/>
                </a:cubicBezTo>
                <a:cubicBezTo>
                  <a:pt x="1204" y="929"/>
                  <a:pt x="1204" y="929"/>
                  <a:pt x="1204" y="929"/>
                </a:cubicBezTo>
                <a:cubicBezTo>
                  <a:pt x="1219" y="957"/>
                  <a:pt x="1228" y="990"/>
                  <a:pt x="1228" y="1024"/>
                </a:cubicBezTo>
                <a:close/>
                <a:moveTo>
                  <a:pt x="1207" y="757"/>
                </a:moveTo>
                <a:cubicBezTo>
                  <a:pt x="1155" y="721"/>
                  <a:pt x="1092" y="700"/>
                  <a:pt x="1024" y="700"/>
                </a:cubicBezTo>
                <a:cubicBezTo>
                  <a:pt x="845" y="700"/>
                  <a:pt x="700" y="845"/>
                  <a:pt x="700" y="1024"/>
                </a:cubicBezTo>
                <a:cubicBezTo>
                  <a:pt x="700" y="1203"/>
                  <a:pt x="845" y="1348"/>
                  <a:pt x="1024" y="1348"/>
                </a:cubicBezTo>
                <a:cubicBezTo>
                  <a:pt x="1203" y="1348"/>
                  <a:pt x="1348" y="1203"/>
                  <a:pt x="1348" y="1024"/>
                </a:cubicBezTo>
                <a:cubicBezTo>
                  <a:pt x="1348" y="956"/>
                  <a:pt x="1327" y="893"/>
                  <a:pt x="1291" y="841"/>
                </a:cubicBezTo>
                <a:cubicBezTo>
                  <a:pt x="1463" y="670"/>
                  <a:pt x="1463" y="670"/>
                  <a:pt x="1463" y="670"/>
                </a:cubicBezTo>
                <a:cubicBezTo>
                  <a:pt x="1541" y="767"/>
                  <a:pt x="1588" y="890"/>
                  <a:pt x="1588" y="1024"/>
                </a:cubicBezTo>
                <a:cubicBezTo>
                  <a:pt x="1588" y="1335"/>
                  <a:pt x="1335" y="1588"/>
                  <a:pt x="1024" y="1588"/>
                </a:cubicBezTo>
                <a:cubicBezTo>
                  <a:pt x="713" y="1588"/>
                  <a:pt x="460" y="1335"/>
                  <a:pt x="460" y="1024"/>
                </a:cubicBezTo>
                <a:cubicBezTo>
                  <a:pt x="460" y="713"/>
                  <a:pt x="713" y="460"/>
                  <a:pt x="1024" y="460"/>
                </a:cubicBezTo>
                <a:cubicBezTo>
                  <a:pt x="1158" y="460"/>
                  <a:pt x="1281" y="507"/>
                  <a:pt x="1378" y="585"/>
                </a:cubicBezTo>
                <a:lnTo>
                  <a:pt x="1207" y="757"/>
                </a:lnTo>
                <a:close/>
                <a:moveTo>
                  <a:pt x="1663" y="1663"/>
                </a:moveTo>
                <a:cubicBezTo>
                  <a:pt x="1492" y="1834"/>
                  <a:pt x="1265" y="1928"/>
                  <a:pt x="1024" y="1928"/>
                </a:cubicBezTo>
                <a:cubicBezTo>
                  <a:pt x="783" y="1928"/>
                  <a:pt x="556" y="1834"/>
                  <a:pt x="385" y="1663"/>
                </a:cubicBezTo>
                <a:cubicBezTo>
                  <a:pt x="214" y="1492"/>
                  <a:pt x="120" y="1265"/>
                  <a:pt x="120" y="1024"/>
                </a:cubicBezTo>
                <a:cubicBezTo>
                  <a:pt x="120" y="783"/>
                  <a:pt x="214" y="556"/>
                  <a:pt x="385" y="385"/>
                </a:cubicBezTo>
                <a:cubicBezTo>
                  <a:pt x="556" y="214"/>
                  <a:pt x="783" y="120"/>
                  <a:pt x="1024" y="120"/>
                </a:cubicBezTo>
                <a:cubicBezTo>
                  <a:pt x="1182" y="120"/>
                  <a:pt x="1335" y="161"/>
                  <a:pt x="1471" y="238"/>
                </a:cubicBezTo>
                <a:cubicBezTo>
                  <a:pt x="1403" y="306"/>
                  <a:pt x="1403" y="306"/>
                  <a:pt x="1403" y="306"/>
                </a:cubicBezTo>
                <a:cubicBezTo>
                  <a:pt x="1392" y="317"/>
                  <a:pt x="1386" y="331"/>
                  <a:pt x="1385" y="346"/>
                </a:cubicBezTo>
                <a:cubicBezTo>
                  <a:pt x="1385" y="349"/>
                  <a:pt x="1385" y="351"/>
                  <a:pt x="1386" y="353"/>
                </a:cubicBezTo>
                <a:cubicBezTo>
                  <a:pt x="1394" y="449"/>
                  <a:pt x="1394" y="449"/>
                  <a:pt x="1394" y="449"/>
                </a:cubicBezTo>
                <a:cubicBezTo>
                  <a:pt x="1287" y="380"/>
                  <a:pt x="1160" y="340"/>
                  <a:pt x="1024" y="340"/>
                </a:cubicBezTo>
                <a:cubicBezTo>
                  <a:pt x="647" y="340"/>
                  <a:pt x="340" y="647"/>
                  <a:pt x="340" y="1024"/>
                </a:cubicBezTo>
                <a:cubicBezTo>
                  <a:pt x="340" y="1401"/>
                  <a:pt x="647" y="1708"/>
                  <a:pt x="1024" y="1708"/>
                </a:cubicBezTo>
                <a:cubicBezTo>
                  <a:pt x="1401" y="1708"/>
                  <a:pt x="1708" y="1401"/>
                  <a:pt x="1708" y="1024"/>
                </a:cubicBezTo>
                <a:cubicBezTo>
                  <a:pt x="1708" y="888"/>
                  <a:pt x="1668" y="761"/>
                  <a:pt x="1599" y="654"/>
                </a:cubicBezTo>
                <a:cubicBezTo>
                  <a:pt x="1695" y="662"/>
                  <a:pt x="1695" y="662"/>
                  <a:pt x="1695" y="662"/>
                </a:cubicBezTo>
                <a:cubicBezTo>
                  <a:pt x="1697" y="662"/>
                  <a:pt x="1698" y="663"/>
                  <a:pt x="1700" y="663"/>
                </a:cubicBezTo>
                <a:cubicBezTo>
                  <a:pt x="1700" y="663"/>
                  <a:pt x="1701" y="663"/>
                  <a:pt x="1701" y="663"/>
                </a:cubicBezTo>
                <a:cubicBezTo>
                  <a:pt x="1702" y="663"/>
                  <a:pt x="1702" y="662"/>
                  <a:pt x="1703" y="662"/>
                </a:cubicBezTo>
                <a:cubicBezTo>
                  <a:pt x="1705" y="662"/>
                  <a:pt x="1706" y="662"/>
                  <a:pt x="1707" y="662"/>
                </a:cubicBezTo>
                <a:cubicBezTo>
                  <a:pt x="1708" y="662"/>
                  <a:pt x="1709" y="662"/>
                  <a:pt x="1710" y="662"/>
                </a:cubicBezTo>
                <a:cubicBezTo>
                  <a:pt x="1711" y="662"/>
                  <a:pt x="1712" y="661"/>
                  <a:pt x="1713" y="661"/>
                </a:cubicBezTo>
                <a:cubicBezTo>
                  <a:pt x="1714" y="661"/>
                  <a:pt x="1715" y="661"/>
                  <a:pt x="1716" y="660"/>
                </a:cubicBezTo>
                <a:cubicBezTo>
                  <a:pt x="1717" y="660"/>
                  <a:pt x="1718" y="660"/>
                  <a:pt x="1719" y="659"/>
                </a:cubicBezTo>
                <a:cubicBezTo>
                  <a:pt x="1720" y="659"/>
                  <a:pt x="1721" y="659"/>
                  <a:pt x="1722" y="658"/>
                </a:cubicBezTo>
                <a:cubicBezTo>
                  <a:pt x="1723" y="658"/>
                  <a:pt x="1724" y="658"/>
                  <a:pt x="1725" y="657"/>
                </a:cubicBezTo>
                <a:cubicBezTo>
                  <a:pt x="1726" y="657"/>
                  <a:pt x="1727" y="656"/>
                  <a:pt x="1727" y="656"/>
                </a:cubicBezTo>
                <a:cubicBezTo>
                  <a:pt x="1728" y="655"/>
                  <a:pt x="1730" y="655"/>
                  <a:pt x="1731" y="654"/>
                </a:cubicBezTo>
                <a:cubicBezTo>
                  <a:pt x="1731" y="654"/>
                  <a:pt x="1732" y="653"/>
                  <a:pt x="1733" y="653"/>
                </a:cubicBezTo>
                <a:cubicBezTo>
                  <a:pt x="1734" y="652"/>
                  <a:pt x="1735" y="651"/>
                  <a:pt x="1736" y="650"/>
                </a:cubicBezTo>
                <a:cubicBezTo>
                  <a:pt x="1737" y="650"/>
                  <a:pt x="1737" y="650"/>
                  <a:pt x="1738" y="649"/>
                </a:cubicBezTo>
                <a:cubicBezTo>
                  <a:pt x="1739" y="648"/>
                  <a:pt x="1741" y="646"/>
                  <a:pt x="1742" y="645"/>
                </a:cubicBezTo>
                <a:cubicBezTo>
                  <a:pt x="1810" y="577"/>
                  <a:pt x="1810" y="577"/>
                  <a:pt x="1810" y="577"/>
                </a:cubicBezTo>
                <a:cubicBezTo>
                  <a:pt x="1887" y="713"/>
                  <a:pt x="1928" y="866"/>
                  <a:pt x="1928" y="1024"/>
                </a:cubicBezTo>
                <a:cubicBezTo>
                  <a:pt x="1928" y="1265"/>
                  <a:pt x="1834" y="1492"/>
                  <a:pt x="1663" y="16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35002-7574-42F1-993E-CF2370D7A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590550"/>
            <a:ext cx="7848600" cy="412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3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A9BE-2C71-4B3B-B07B-4A609579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73121B-1DBA-43CA-8F77-04EDB5B1D1CC}"/>
              </a:ext>
            </a:extLst>
          </p:cNvPr>
          <p:cNvSpPr/>
          <p:nvPr/>
        </p:nvSpPr>
        <p:spPr bwMode="auto">
          <a:xfrm>
            <a:off x="762000" y="116467"/>
            <a:ext cx="381000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Примеры исходных материалов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4A47F-F720-4C08-9BA3-B4EA12A406A6}"/>
              </a:ext>
            </a:extLst>
          </p:cNvPr>
          <p:cNvSpPr/>
          <p:nvPr/>
        </p:nvSpPr>
        <p:spPr bwMode="auto">
          <a:xfrm>
            <a:off x="65724" y="116467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5E8DE-765E-44FE-AEF7-4E3CFBD823FA}"/>
              </a:ext>
            </a:extLst>
          </p:cNvPr>
          <p:cNvSpPr txBox="1"/>
          <p:nvPr/>
        </p:nvSpPr>
        <p:spPr>
          <a:xfrm>
            <a:off x="65724" y="804859"/>
            <a:ext cx="4049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Структура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и пример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конспекта</a:t>
            </a:r>
            <a:endParaRPr lang="ru-RU" b="1" dirty="0">
              <a:effectLst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035011-5AAB-4AD7-A711-6E86E4625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3884"/>
            <a:ext cx="3711575" cy="371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804D26-88C0-49DF-BE42-9B5DA38A7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543" y="1352550"/>
            <a:ext cx="5529457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92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FA9BE-2C71-4B3B-B07B-4A609579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73121B-1DBA-43CA-8F77-04EDB5B1D1CC}"/>
              </a:ext>
            </a:extLst>
          </p:cNvPr>
          <p:cNvSpPr/>
          <p:nvPr/>
        </p:nvSpPr>
        <p:spPr bwMode="auto">
          <a:xfrm>
            <a:off x="762000" y="116467"/>
            <a:ext cx="381000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Примеры исходных материалов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4A47F-F720-4C08-9BA3-B4EA12A406A6}"/>
              </a:ext>
            </a:extLst>
          </p:cNvPr>
          <p:cNvSpPr/>
          <p:nvPr/>
        </p:nvSpPr>
        <p:spPr bwMode="auto">
          <a:xfrm>
            <a:off x="65724" y="116467"/>
            <a:ext cx="594360" cy="590114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VII.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5E8DE-765E-44FE-AEF7-4E3CFBD823FA}"/>
              </a:ext>
            </a:extLst>
          </p:cNvPr>
          <p:cNvSpPr txBox="1"/>
          <p:nvPr/>
        </p:nvSpPr>
        <p:spPr>
          <a:xfrm>
            <a:off x="65724" y="804859"/>
            <a:ext cx="4811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Структура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и пример требуемых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конспектов</a:t>
            </a:r>
            <a:endParaRPr lang="ru-RU" b="1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A1DAC-5915-48B7-B5D2-7C3ADEF4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74191"/>
            <a:ext cx="6473683" cy="344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862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419100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. </a:t>
            </a:r>
            <a:r>
              <a:rPr lang="ru-RU" b="1" dirty="0" err="1">
                <a:solidFill>
                  <a:schemeClr val="bg1"/>
                </a:solidFill>
                <a:latin typeface="+mj-lt"/>
              </a:rPr>
              <a:t>Промпт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конструктор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D9E43A6-1085-4744-B472-878FB5B13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913283"/>
              </p:ext>
            </p:extLst>
          </p:nvPr>
        </p:nvGraphicFramePr>
        <p:xfrm>
          <a:off x="145583" y="804859"/>
          <a:ext cx="8610599" cy="4099654"/>
        </p:xfrm>
        <a:graphic>
          <a:graphicData uri="http://schemas.openxmlformats.org/drawingml/2006/table">
            <a:tbl>
              <a:tblPr/>
              <a:tblGrid>
                <a:gridCol w="8610599">
                  <a:extLst>
                    <a:ext uri="{9D8B030D-6E8A-4147-A177-3AD203B41FA5}">
                      <a16:colId xmlns:a16="http://schemas.microsoft.com/office/drawing/2014/main" val="1136260502"/>
                    </a:ext>
                  </a:extLst>
                </a:gridCol>
              </a:tblGrid>
              <a:tr h="326231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880000"/>
                          </a:solidFill>
                          <a:effectLst/>
                          <a:latin typeface="Consolas" panose="020B0609020204030204" pitchFamily="49" charset="0"/>
                        </a:rPr>
                        <a:t># Шаблон (можно вынести в JSON для кастомизации)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{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"</a:t>
                      </a:r>
                      <a:r>
                        <a:rPr lang="ru-RU" sz="1100" b="0" i="0" u="none" strike="noStrike" dirty="0" err="1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title</a:t>
                      </a: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": "Общественное движение в России во второй четверти XIX века",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"</a:t>
                      </a:r>
                      <a:r>
                        <a:rPr lang="ru-RU" sz="1100" b="0" i="0" u="none" strike="noStrike" dirty="0" err="1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sections</a:t>
                      </a: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": [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"План занятия",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"Основные концепции",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"Ключевые персоны c указанием годов жизни",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"Сравнение концепций c описанием идей",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    "Даты ключевых событий"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],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    "</a:t>
                      </a:r>
                      <a:r>
                        <a:rPr lang="ru-RU" sz="1100" b="0" i="0" u="none" strike="noStrike" dirty="0" err="1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style</a:t>
                      </a: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": "Сделай краткий конспект Добавь </a:t>
                      </a:r>
                      <a:r>
                        <a:rPr lang="ru-RU" sz="1100" b="0" i="0" u="none" strike="noStrike" dirty="0" err="1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таймкоды</a:t>
                      </a: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, ключевые понятия. Избегай повторений"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1" i="0" u="none" strike="noStrike" dirty="0">
                          <a:solidFill>
                            <a:srgbClr val="880000"/>
                          </a:solidFill>
                          <a:effectLst/>
                          <a:latin typeface="Consolas" panose="020B0609020204030204" pitchFamily="49" charset="0"/>
                        </a:rPr>
                        <a:t># Формируем </a:t>
                      </a:r>
                      <a:r>
                        <a:rPr lang="ru-RU" sz="1100" b="1" i="0" u="none" strike="noStrike" dirty="0" err="1">
                          <a:solidFill>
                            <a:srgbClr val="880000"/>
                          </a:solidFill>
                          <a:effectLst/>
                          <a:latin typeface="Consolas" panose="020B0609020204030204" pitchFamily="49" charset="0"/>
                        </a:rPr>
                        <a:t>prompt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prompt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f"""Ты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-- помощник-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конспектолог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. Преобразуй данный текст в структурированный учебный конспект.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Исходный текст: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\"\"\"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transcript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[:]}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\"\"\"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Структура конспекта: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Название: {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["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title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"]}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Разделы: {', '.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join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["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sections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"])}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D35400"/>
                          </a:solidFill>
                          <a:effectLst/>
                          <a:latin typeface="Consolas" panose="020B0609020204030204" pitchFamily="49" charset="0"/>
                        </a:rPr>
                        <a:t>- 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Стиль: {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["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style</a:t>
                      </a: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"]}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Ответ начни сразу с заголовка,  продолжи в виде структурированного текста в формате </a:t>
                      </a:r>
                      <a:r>
                        <a:rPr lang="ru-RU" sz="11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markdown</a:t>
                      </a:r>
                      <a:b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11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"""</a:t>
                      </a:r>
                      <a:endParaRPr lang="ru-RU" sz="2000" dirty="0">
                        <a:effectLst/>
                      </a:endParaRPr>
                    </a:p>
                  </a:txBody>
                  <a:tcPr marL="38147" marR="38147" marT="38147" marB="3814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574174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36DC915D-F975-4BD9-B68C-850E291B6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16467"/>
            <a:ext cx="4071667" cy="1218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Конфигурация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промпта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возможностью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настройки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админке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en-US" altLang="en-US" sz="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578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790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1</a:t>
            </a:r>
            <a:endParaRPr lang="ru-RU" sz="11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ЕГ – это просто. Общественное движение в России во второй четверти-19 века.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Вообщественном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движении второй четверти-19 века можно выделить три направления – консервативное,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ребиральное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радикальное.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Иеологом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консерватизм стал Сергей Семёнович Уваров. Теория официальной народности, разработанная Уваровым, базировалась на трёх ключевых принципах – самодержавия, православия и народность. Каждый из принципов имел идеологическое обоснование. Самодержавия – это основа жизни русского общества. Православия – это ориентация человека на общественный интерес, общая благо и справедливость. Народность выражала единственная народа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сплоченного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вокруг царя. Международным у монархом существовала неразрывная духовная связь, которая была и будет основой успешного развития России. В сторонниками Уварова и идеи консерватизма были Николай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Гирасимович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Устрялов и Михаил Петрович Погодин. Писатели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Фодди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Венедиктович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Полугарин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Николай Иванович, Греч, Михаил Николаевич Загоскин. Консерваторы считали, что социальные и политические реформы в России не нужны и только несут вред</a:t>
            </a:r>
            <a:endParaRPr lang="ru-RU" sz="1100" dirty="0">
              <a:effectLst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E22BB34-6BC9-4C5C-8F58-417DBDF99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653" y="1490574"/>
            <a:ext cx="4276725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529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2</a:t>
            </a:r>
            <a:endParaRPr lang="ru-RU" sz="11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 основном русской жизни.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Продициумно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идеям консерватизма противопоставляются идеи либерализма. Последние основаны на расширение естественных прав человека, то есть прав на свободу совести, неприкосновенность частной жизни,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правинство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всех перед закону. Либералы выступают за общество, где государство не является единственным регулятором общественных отношений. Либеральное направление в России в этот период разделилось на два лагеря. Западников 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словеннофилов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которые видели исторически путь России по-разному. Но сходились в том, что государство не может разбиваться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присуществующей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системе крепостничества и самодержавия, а необходимые перемены должны происходить посредством реформ.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фильтство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как религиозно-философское течение общественной мысли, оформилось в 30-50-х годах 19-го века. Оно выступало за развитие России по самобытному пути. Самые известные представители данного течения, братья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Оксакова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Киреевский, Юрий Федорович Самарин, Александр Иванович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Кошелёв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 другие. Основоположником идеей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филов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можно считать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историко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публициста и богослова</a:t>
            </a:r>
            <a:endParaRPr lang="ru-RU" sz="1100" dirty="0">
              <a:effectLst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66FE22-7A79-4CCF-B5F3-429DD06AD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428750"/>
            <a:ext cx="4495800" cy="254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7717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3</a:t>
            </a:r>
            <a:endParaRPr lang="ru-RU" sz="8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Александра Степановича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Хемикова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Взгляды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филов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сводились к тому, что русский народ должен вернуться на привычный ему путь, с которого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Сошел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из-за реформ Петра Первого.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филы выступали за сохранение самодержавия, но считали необходимым учредить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примонархе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орган народного представительства с совещательными функциями. Своим разным образцом такого органа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на филы считали земские соборы. Западники же, напротив, видели в Петре Первом правителя, повернувшего Россию, к её подлинному предназначению. Быть вместе с Европой. Они считали, что Россия должна двигаться в общей европейском направлении. Сменить самодержавия на Конституционную монархию, расширять права всех со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словей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развивать рыночную экономику и ввести парламент как орган в воле изъявления народа. Основными представителями западников были Тимофея Николаевич Грановский, Сергей Михайлович Соловьёв, Константин Дмитрий Павел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Восильевич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Анинков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Василий Петрович Боткин, Иван Сергеевич Тургенев. И западники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Исловьёвёвы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единственным возможным путём, видели</a:t>
            </a:r>
            <a:endParaRPr lang="ru-RU" sz="800" dirty="0">
              <a:effectLst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EB19072-3B12-4532-A3BA-CE6845F0F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77" y="1357312"/>
            <a:ext cx="4288699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191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4</a:t>
            </a:r>
            <a:endParaRPr lang="ru-RU" sz="8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реформы, организуемые и проводимые власти. На формирование западнической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исловьёновильской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идеологии значительное влияние оказал Пётр Яковлевич Чаадаев, публицист и мыслите. В философических письмах он говорил об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отлучённости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России от всемерной истории духовном застой в России, которые препятствуют её историческому развитию. За публикацию своего письма в журнале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Телископ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в 1836 году он была в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Явленс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у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Машедшим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а сам журнал закрыт.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Иденческие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кружки 1,820-30 годов. Однако существовали и те, кто подобно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дикабристам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считал, что единственный способ покончить самодержавия – это революция. Революционные идеи не были распространены в России, и Николай первый сделал всё возможное, чтобы не дать им развиться. Но сторонники о этих идеей всё же были. Единственным возможным вариантом для их рас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постронения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стали тайны собрания единомышленников или политические и революционные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кружики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В 1,826-1,827 годах действовал кружок братьев Критских, которым предпринималась попытка продолжения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дикабрисской</a:t>
            </a:r>
            <a:endParaRPr lang="ru-RU" sz="800" dirty="0">
              <a:effectLst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7C0F4CA-FA04-452D-BCA3-F0807253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429" y="1352550"/>
            <a:ext cx="4582572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5853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Транскрипция видео с ключевыми кадрами</a:t>
            </a:r>
            <a:endParaRPr lang="ru-RU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186653" y="804859"/>
            <a:ext cx="457200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ru-RU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Кадр 5</a:t>
            </a:r>
            <a:endParaRPr lang="ru-RU" sz="800" b="1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идеологии и тактики. Все его участники были заключены в крепости на различные сроки. Одним из наиболее последовательных своих идеях был кружок Александра Ивановича Герцена и Николая Платоновича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Агорёва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В 1,831-1,834 годах они изучали труды французских публицистов и философов, сторонников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путопического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социализма.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Чие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идеи основывались на представлениях об обществе всеобщего равенства. В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Лияне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идеей утопического социализма найдут отражение в теории русского социализма Александра Ивановича Герцена. Печальная учесть постигла кружков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Челено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Михаилова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Силивича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Петрошевского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образованного в Петербурге, действовавшего в 1,845-1,849 годах. Его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Челенами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были Фёдор Михайлович Достоевский, Михаил Евграф 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Вечесал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Тыковщий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Дрин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Николай Алексеевич Спешнев.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Челено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Кружка считали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единственноверным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решением преобразования государства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приволюцию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Её движущие силы должны были стать крестьяне Сибири, Урала и Дона. Кружок был раскрыт, а его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Челены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приговорены к смертной казни, которая в последний момент была заменена на ссылку и </a:t>
            </a:r>
            <a:r>
              <a:rPr lang="ru-RU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катражные</a:t>
            </a: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работы.</a:t>
            </a:r>
            <a:endParaRPr lang="ru-RU" sz="800" dirty="0">
              <a:effectLst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CBF656F-FFB2-4AED-B828-FABDD9780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618" y="1461612"/>
            <a:ext cx="3895725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569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Пример результат транскрибированного текста               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модель </a:t>
            </a:r>
            <a:r>
              <a:rPr lang="ru-RU" sz="12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5681563" y="247491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whisper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moviepy.editor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VideoFileClip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docx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Document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docx.shared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Inches</a:t>
            </a:r>
            <a:r>
              <a:rPr lang="ru-RU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В</a:t>
            </a:r>
            <a:endParaRPr lang="ru-RU" sz="3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5D42E-6C2C-4E44-9566-AE7D0B0CD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" y="840238"/>
            <a:ext cx="5567311" cy="430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68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Транскрибация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текстовой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видеолекции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(2025-04-08)</a:t>
            </a:r>
            <a:b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             </a:t>
            </a: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Пример результат транскрибированного текста               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модель </a:t>
            </a:r>
            <a:r>
              <a:rPr lang="ru-RU" sz="12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lang="ru-RU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AECD3-C9C8-460C-837C-5F100D5076D7}"/>
              </a:ext>
            </a:extLst>
          </p:cNvPr>
          <p:cNvSpPr txBox="1"/>
          <p:nvPr/>
        </p:nvSpPr>
        <p:spPr>
          <a:xfrm>
            <a:off x="5681563" y="2474917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800"/>
              </a:spcBef>
              <a:spcAft>
                <a:spcPts val="400"/>
              </a:spcAft>
            </a:pP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whisper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moviepy.editor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VideoFileClip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docx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Document</a:t>
            </a:r>
            <a:b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docx.shared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Inches</a:t>
            </a:r>
            <a:r>
              <a:rPr lang="ru-RU" sz="105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В</a:t>
            </a:r>
            <a:endParaRPr lang="ru-RU" sz="300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5D42E-6C2C-4E44-9566-AE7D0B0CD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52" y="840238"/>
            <a:ext cx="5567311" cy="430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13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</a:t>
            </a:r>
            <a:r>
              <a:rPr lang="en-US" b="1" dirty="0" err="1">
                <a:solidFill>
                  <a:schemeClr val="bg1"/>
                </a:solidFill>
                <a:latin typeface="+mj-lt"/>
              </a:rPr>
              <a:t>OpenAI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Сравнение моделей </a:t>
            </a:r>
            <a:r>
              <a:rPr lang="ru-RU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 и gpt-4</a:t>
            </a:r>
            <a:endParaRPr lang="ru-RU" dirty="0">
              <a:effectLst/>
            </a:endParaRPr>
          </a:p>
          <a:p>
            <a:pPr rtl="0">
              <a:spcBef>
                <a:spcPts val="1800"/>
              </a:spcBef>
              <a:spcAft>
                <a:spcPts val="600"/>
              </a:spcAft>
            </a:pPr>
            <a:endParaRPr lang="ru-RU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9CADD5A-39E5-424F-88B3-D6D422362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76" y="1135718"/>
            <a:ext cx="85344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566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</a:t>
            </a:r>
            <a:r>
              <a:rPr lang="en-US" b="1" dirty="0" err="1">
                <a:solidFill>
                  <a:schemeClr val="bg1"/>
                </a:solidFill>
                <a:latin typeface="+mj-lt"/>
              </a:rPr>
              <a:t>OpenAI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Сравнение моделей </a:t>
            </a:r>
            <a:r>
              <a:rPr lang="ru-RU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 и gpt-4</a:t>
            </a:r>
            <a:endParaRPr lang="ru-RU" dirty="0">
              <a:effectLst/>
            </a:endParaRPr>
          </a:p>
          <a:p>
            <a:pPr rtl="0">
              <a:spcBef>
                <a:spcPts val="1800"/>
              </a:spcBef>
              <a:spcAft>
                <a:spcPts val="600"/>
              </a:spcAft>
            </a:pPr>
            <a:endParaRPr lang="ru-RU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92DF1-5C42-4AAD-895F-16D110CB5225}"/>
              </a:ext>
            </a:extLst>
          </p:cNvPr>
          <p:cNvSpPr txBox="1"/>
          <p:nvPr/>
        </p:nvSpPr>
        <p:spPr>
          <a:xfrm>
            <a:off x="124991" y="804859"/>
            <a:ext cx="4572000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</a:t>
            </a:r>
            <a:endParaRPr lang="ru-RU" sz="8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800" dirty="0"/>
            </a:b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Название: Общественное движение в России во второй четверти XIX века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Разделы: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1. План занятия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2. Основные концепции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3. Ключевые персоны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4. Сравнение концепций в таблице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5. Даты ключевых событий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800" dirty="0"/>
            </a:b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План занятия: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Введение в общественное движение в России во второй четверти XIX века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Разделение на консервативное, либеральное и радикальное направления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Роль идеологии в формировании общественных взглядов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Влияние ключевых персон на развитие общественного движения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Заключение: итоги и последствия для российского общества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800" dirty="0"/>
            </a:b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Основные концепции: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Консерватизм: Самодержавие, православие, народность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Либерализм: Расширение прав человека, свобода совести, равенство перед законом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Славянофильство: Развитие России по уникальному пути, сохранение самодержавия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Западничество: Переход к конституционной монархии, развитие рыночной экономики</a:t>
            </a:r>
            <a:endParaRPr lang="ru-RU" sz="8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6D206-FA51-4D4C-8F77-248286F0571B}"/>
              </a:ext>
            </a:extLst>
          </p:cNvPr>
          <p:cNvSpPr txBox="1"/>
          <p:nvPr/>
        </p:nvSpPr>
        <p:spPr>
          <a:xfrm>
            <a:off x="4619680" y="745660"/>
            <a:ext cx="4601632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gpt-4</a:t>
            </a:r>
            <a:endParaRPr lang="ru-RU" sz="9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9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 Общественное движение в России во второй четверти XIX века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9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План занятия: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1. [00:00-05:00] Введение в тему: Общественное движение в России во второй четверти XIX века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2. [05:00-15:00] Основные направления общественного движения: Консервативное, либеральное и радикальное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3. [15:00-25:00] Ключевые персоны и их вклад в общественное движение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4. [25:00-35:00] Сравнение концепций в таблице: Консерватизм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vs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Либерализм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5. [35:00-45:00] Даты ключевых событий и их влияние на общественное движение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9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Основные концепции: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Консерватизм: Идеология, основанная на трех ключевых принципах – самодержавие, православие и народность. 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Либерализм: Идеология, основанная на расширении естественных прав человека, то есть прав на свободу совести, неприкосновенность частной жизни, равенство всех перед законом.</a:t>
            </a:r>
            <a:endParaRPr lang="ru-RU" sz="9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Радикализм: Идеология, поддерживающая необходимость революционных изменений в обществе и государстве.</a:t>
            </a:r>
            <a:endParaRPr lang="ru-RU" sz="900" dirty="0">
              <a:effectLst/>
            </a:endParaRPr>
          </a:p>
          <a:p>
            <a:br>
              <a:rPr lang="ru-RU" sz="900" dirty="0"/>
            </a:b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84016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</a:t>
            </a:r>
            <a:r>
              <a:rPr lang="en-US" b="1" dirty="0" err="1">
                <a:solidFill>
                  <a:schemeClr val="bg1"/>
                </a:solidFill>
                <a:latin typeface="+mj-lt"/>
              </a:rPr>
              <a:t>OpenAI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Сравнение моделей </a:t>
            </a:r>
            <a:r>
              <a:rPr lang="ru-RU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 и gpt-4</a:t>
            </a:r>
            <a:endParaRPr lang="ru-RU" dirty="0">
              <a:effectLst/>
            </a:endParaRPr>
          </a:p>
          <a:p>
            <a:pPr rtl="0">
              <a:spcBef>
                <a:spcPts val="1800"/>
              </a:spcBef>
              <a:spcAft>
                <a:spcPts val="600"/>
              </a:spcAft>
            </a:pPr>
            <a:endParaRPr lang="ru-RU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92DF1-5C42-4AAD-895F-16D110CB5225}"/>
              </a:ext>
            </a:extLst>
          </p:cNvPr>
          <p:cNvSpPr txBox="1"/>
          <p:nvPr/>
        </p:nvSpPr>
        <p:spPr>
          <a:xfrm>
            <a:off x="141924" y="689133"/>
            <a:ext cx="4572000" cy="371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100"/>
              </a:spcAft>
            </a:pPr>
            <a:r>
              <a:rPr lang="ru-RU" sz="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gpt-3.5-turbo</a:t>
            </a:r>
            <a:endParaRPr lang="ru-RU" sz="5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00" dirty="0"/>
            </a:br>
            <a:br>
              <a:rPr lang="ru-RU" sz="100" dirty="0"/>
            </a:b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Ключевые персоны: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Сергей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Семенович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Уваров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Николай Герасимович Устрялов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Михаил Петрович Погодин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Александр Степанович Хомяков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Петр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Яковлевич Чаадаев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Тимофей Николаевич Грановский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Александр Иванович Герцен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Николай Платонович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Огарев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Михаил Васильевич Петрашевский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00" dirty="0"/>
            </a:br>
            <a:endParaRPr lang="ru-RU" sz="7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7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00" dirty="0"/>
            </a:b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Даты ключевых событий: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- 1836: Публикация письма Петра Яковлевича Чаадаева в журнале "Телескоп"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- 1826-1827: Деятельность кружка братьев Критских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- 1831-1834: Деятельность кружка Александра Ивановича Герцена и Николая Платоновича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Огарева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- 1845-1849: Деятельность кружка Михаила Васильевича Петрашевского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00" dirty="0"/>
            </a:b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Стиль: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Таймкоды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00:00-01:30 Введение в общественное движение в XIX веке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Ключевые понятия: консерватизм, либерализм, славянофильство, западничество</a:t>
            </a:r>
            <a:endParaRPr lang="ru-RU" sz="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- Списки: ключевые персоны, сравнение концепций, даты событий</a:t>
            </a:r>
            <a:endParaRPr lang="ru-RU" sz="100" dirty="0">
              <a:effectLst/>
            </a:endParaRPr>
          </a:p>
          <a:p>
            <a:br>
              <a:rPr lang="ru-RU" sz="100" dirty="0"/>
            </a:br>
            <a:br>
              <a:rPr lang="ru-RU" sz="100" dirty="0"/>
            </a:br>
            <a:endParaRPr lang="ru-RU" sz="1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6D206-FA51-4D4C-8F77-248286F0571B}"/>
              </a:ext>
            </a:extLst>
          </p:cNvPr>
          <p:cNvSpPr txBox="1"/>
          <p:nvPr/>
        </p:nvSpPr>
        <p:spPr>
          <a:xfrm>
            <a:off x="4646192" y="707086"/>
            <a:ext cx="4601632" cy="3962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100"/>
              </a:spcAft>
            </a:pPr>
            <a:r>
              <a:rPr lang="ru-RU" sz="105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gpt-4</a:t>
            </a:r>
            <a:endParaRPr lang="ru-RU" sz="600" b="1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2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Ключевые персоны: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Сергей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Семенович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Уваров: Идеолог консерватизма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Николай Герасимович Устрялов и Михаил Петрович Погодин: Сторонники Уварова и идей консерватизма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Братья Аксаковы и Киреевские, Юрий Федорович Самарин, Александр Иванович Кошелев: Представители славянофильства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Александр Степанович Хомяков: Основоположник идеи славянофилов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Тимофей Николаевич Грановский, Сергей Михайлович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Соловьев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Константин Дмитриевич Кавелин, Павел Васильевич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Аненков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Василий Петрович Боткин, Иван Сергеевич Тургенев: Представители западников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200" dirty="0"/>
            </a:br>
            <a:endParaRPr lang="ru-RU" sz="9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endParaRPr lang="ru-RU" sz="9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2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Даты ключевых событий: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- 30-50 годы XIX века: Формирование славянофильства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- 1826-1827 годы: Действие кружка братьев Критских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- 1831-1834 годы: Действие кружка Александра Ивановича Герцена и Николая Платоновича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Огарева</a:t>
            </a:r>
            <a:endParaRPr lang="ru-RU" sz="2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- 1845-1849 годы: Действие кружка Михаила Васильевича Петрашевского</a:t>
            </a:r>
            <a:endParaRPr lang="ru-RU" sz="200" dirty="0">
              <a:effectLst/>
            </a:endParaRPr>
          </a:p>
          <a:p>
            <a:br>
              <a:rPr lang="ru-RU" sz="200" dirty="0"/>
            </a:br>
            <a:endParaRPr lang="en-US" sz="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1ECED-4D6B-4441-AC59-3B9B37554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2374"/>
            <a:ext cx="4713924" cy="8617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863E97-4C90-42C8-9303-FC108281E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191" y="2618662"/>
            <a:ext cx="4355885" cy="71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54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С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laude-3.7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fr-FR" sz="1800" b="1" i="0" u="sng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API</a:t>
            </a:r>
            <a:r>
              <a:rPr lang="fr-FR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: conspect_API_claude-3-7-sonnet-20250219 (0:00:16.667)</a:t>
            </a:r>
            <a:endParaRPr lang="ru-RU" sz="1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6D206-FA51-4D4C-8F77-248286F0571B}"/>
              </a:ext>
            </a:extLst>
          </p:cNvPr>
          <p:cNvSpPr txBox="1"/>
          <p:nvPr/>
        </p:nvSpPr>
        <p:spPr>
          <a:xfrm>
            <a:off x="69850" y="1975249"/>
            <a:ext cx="4601632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ru-RU" sz="9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~ 0.02$  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за запрос 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4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*** Start </a:t>
            </a:r>
            <a:r>
              <a:rPr lang="ru-RU" sz="9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at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12:24:10 2025-04-14  ************************************************************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4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 ОБЩЕСТВЕННОЕ ДВИЖЕНИЕ В РОССИИ ВО ВТОРОЙ ЧЕТВЕРТИ XIX ВЕКА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400" dirty="0"/>
            </a:b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ПЛАН ЗАНЯТИЯ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[00:00-05:00] Основные направления общественной мысли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[05:00-15:00] Консервативное направление и теория официальной народности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[15:00-25:00] Либеральное направление: славянофилы и западники</a:t>
            </a:r>
            <a:endParaRPr lang="ru-RU" sz="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[25:00-30:00] Революционное направление и тайные кружки</a:t>
            </a:r>
            <a:endParaRPr lang="ru-RU" sz="400" dirty="0">
              <a:effectLst/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0AEC69CF-B5E6-4262-A568-4BC514819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889693"/>
            <a:ext cx="6229350" cy="130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D92036-0CA9-46F7-91FD-E7F13671B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0" y="3706040"/>
            <a:ext cx="9144000" cy="1422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D6D6A6-AFA9-4105-8937-FF0CFEDAEA3F}"/>
              </a:ext>
            </a:extLst>
          </p:cNvPr>
          <p:cNvSpPr txBox="1"/>
          <p:nvPr/>
        </p:nvSpPr>
        <p:spPr>
          <a:xfrm>
            <a:off x="4747682" y="2212580"/>
            <a:ext cx="4575174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### 2. Теория официальной народности (С.С. Уваров)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 **Самодержавие** — основа жизни русского общества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 **Православие** — ориентация на общественное благо и справедливость</a:t>
            </a:r>
            <a:endParaRPr lang="ru-RU" sz="8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 **Народность** — единство народа вокруг царя, духовная связь монарха и подданных</a:t>
            </a:r>
            <a:endParaRPr lang="ru-RU" sz="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1761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3413761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С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laude-3.7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235829-9D6D-4F55-BC64-3C8B01FB2643}"/>
              </a:ext>
            </a:extLst>
          </p:cNvPr>
          <p:cNvSpPr txBox="1"/>
          <p:nvPr/>
        </p:nvSpPr>
        <p:spPr>
          <a:xfrm>
            <a:off x="4572000" y="175666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600"/>
              </a:spcBef>
              <a:spcAft>
                <a:spcPts val="400"/>
              </a:spcAft>
            </a:pPr>
            <a:r>
              <a:rPr lang="en-US" sz="1800" b="1" i="0" u="sng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LOCAL</a:t>
            </a:r>
            <a:r>
              <a:rPr lang="en-US" sz="1800" b="0" i="0" u="none" strike="noStrike" dirty="0">
                <a:solidFill>
                  <a:srgbClr val="434343"/>
                </a:solidFill>
                <a:effectLst/>
                <a:latin typeface="Arial" panose="020B0604020202020204" pitchFamily="34" charset="0"/>
              </a:rPr>
              <a:t>: model/conspectmodel_claude-3.7-sonnet-reasoning-gemma3-12B.Q8_0.gguf  (0:11:31.047)</a:t>
            </a:r>
            <a:endParaRPr lang="en-US" b="1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F4232-0D93-480B-BBC6-0D47FFD0F7C8}"/>
              </a:ext>
            </a:extLst>
          </p:cNvPr>
          <p:cNvSpPr txBox="1"/>
          <p:nvPr/>
        </p:nvSpPr>
        <p:spPr>
          <a:xfrm>
            <a:off x="4518025" y="1021292"/>
            <a:ext cx="46799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1" u="sng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https://huggingface.co/reedmayhew/claude-3.7-sonnet-reasoning-gemma3-12B/tree/main</a:t>
            </a:r>
            <a:r>
              <a:rPr lang="en-US" sz="1100" b="0" i="1" u="none" strike="noStrike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endParaRPr lang="en-US" sz="1100" i="1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186E00-F770-4E2F-99AE-CD1BB56BE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2452"/>
            <a:ext cx="9144000" cy="10586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B125651-C367-4C9C-9E64-EBCD3634EA03}"/>
              </a:ext>
            </a:extLst>
          </p:cNvPr>
          <p:cNvSpPr txBox="1"/>
          <p:nvPr/>
        </p:nvSpPr>
        <p:spPr>
          <a:xfrm>
            <a:off x="162160" y="902419"/>
            <a:ext cx="4635500" cy="255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 Общественное движение в России во второй четверти XIX века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br>
              <a:rPr lang="ru-RU" sz="1400" dirty="0"/>
            </a:b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План занятия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1. Общая характеристика общественного движения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2. Консервативное направление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3. Либеральное направление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4. Радикальное направление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5. Сравнение основных концепций</a:t>
            </a:r>
            <a:endParaRPr lang="ru-RU" sz="14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4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6. Итоги и значение движения</a:t>
            </a:r>
            <a:endParaRPr lang="ru-RU" sz="140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FA421D-8F12-4C7F-A441-58EF8362791D}"/>
              </a:ext>
            </a:extLst>
          </p:cNvPr>
          <p:cNvSpPr txBox="1"/>
          <p:nvPr/>
        </p:nvSpPr>
        <p:spPr>
          <a:xfrm>
            <a:off x="4557713" y="1637304"/>
            <a:ext cx="4600574" cy="200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## Основные концепции</a:t>
            </a:r>
            <a:endParaRPr lang="ru-RU" sz="1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**Теория официальной народности**: Уваровская концепция, основанная на трех принципах: самодержавие, православие, народность</a:t>
            </a:r>
            <a:endParaRPr lang="ru-RU" sz="1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**Западничество**: Идея о необходимости для России следовать европейскому пути развития</a:t>
            </a:r>
            <a:endParaRPr lang="ru-RU" sz="1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**Славянофильство**: Идея о самобытности русской цивилизации и необходимости развития по собственному пути</a:t>
            </a:r>
            <a:endParaRPr lang="ru-RU" sz="1100" dirty="0">
              <a:effectLst/>
            </a:endParaRPr>
          </a:p>
          <a:p>
            <a:pPr rtl="0">
              <a:spcBef>
                <a:spcPts val="0"/>
              </a:spcBef>
              <a:spcAft>
                <a:spcPts val="100"/>
              </a:spcAft>
            </a:pPr>
            <a:r>
              <a:rPr lang="ru-RU" sz="11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 **Утопический социализм**: Идеи о справедливом обществе всеобщего равенства</a:t>
            </a:r>
            <a:endParaRPr lang="ru-RU" sz="1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55508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186E00-F770-4E2F-99AE-CD1BB56BE0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621"/>
          <a:stretch/>
        </p:blipFill>
        <p:spPr>
          <a:xfrm>
            <a:off x="0" y="4324350"/>
            <a:ext cx="9144000" cy="819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200" y="116467"/>
            <a:ext cx="449580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Сравнение «сравнений»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6F5CDF2-81D1-4406-9938-D6C1D7ADAC0E}"/>
              </a:ext>
            </a:extLst>
          </p:cNvPr>
          <p:cNvSpPr/>
          <p:nvPr/>
        </p:nvSpPr>
        <p:spPr>
          <a:xfrm>
            <a:off x="6861629" y="4333377"/>
            <a:ext cx="2202982" cy="283448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Local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:</a:t>
            </a:r>
            <a:r>
              <a:rPr lang="ru-RU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sz="1600" b="0" i="0" u="none" strike="noStrike" dirty="0">
                <a:solidFill>
                  <a:schemeClr val="bg1"/>
                </a:solidFill>
                <a:effectLst/>
                <a:latin typeface="+mj-lt"/>
              </a:rPr>
              <a:t>claude-3-7</a:t>
            </a:r>
            <a:endParaRPr 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IX.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E15BF7-77FF-474D-BAF0-0EF47A7A94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123"/>
          <a:stretch/>
        </p:blipFill>
        <p:spPr>
          <a:xfrm>
            <a:off x="81555" y="3257549"/>
            <a:ext cx="8973077" cy="104514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3E8F670-D80C-4968-8189-15FB8B6A0973}"/>
              </a:ext>
            </a:extLst>
          </p:cNvPr>
          <p:cNvGrpSpPr/>
          <p:nvPr/>
        </p:nvGrpSpPr>
        <p:grpSpPr>
          <a:xfrm>
            <a:off x="6861629" y="2599982"/>
            <a:ext cx="2202982" cy="965730"/>
            <a:chOff x="5842268" y="3695924"/>
            <a:chExt cx="3009792" cy="221173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3A949516-8926-4276-9AA4-D623A5F24B7A}"/>
                </a:ext>
              </a:extLst>
            </p:cNvPr>
            <p:cNvSpPr/>
            <p:nvPr/>
          </p:nvSpPr>
          <p:spPr>
            <a:xfrm>
              <a:off x="5842268" y="5264705"/>
              <a:ext cx="3009792" cy="642955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API:</a:t>
              </a:r>
              <a:r>
                <a:rPr lang="ru-RU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 </a:t>
              </a:r>
              <a:r>
                <a:rPr lang="en-US" sz="18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claude-3-7</a:t>
              </a:r>
              <a:endParaRPr lang="en-US" sz="100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2F1FFC3-4AE7-4DF1-8263-7CA3A7509FFA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solidFill>
              <a:schemeClr val="bg1">
                <a:alpha val="3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D87D6572-71A6-4E0A-ADD8-2CC8C8E245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029"/>
          <a:stretch/>
        </p:blipFill>
        <p:spPr>
          <a:xfrm>
            <a:off x="68855" y="2571750"/>
            <a:ext cx="9049604" cy="590114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0E0D387E-BE8B-4BA3-A956-F6F12C4B944F}"/>
              </a:ext>
            </a:extLst>
          </p:cNvPr>
          <p:cNvGrpSpPr/>
          <p:nvPr/>
        </p:nvGrpSpPr>
        <p:grpSpPr>
          <a:xfrm>
            <a:off x="6909127" y="2529617"/>
            <a:ext cx="2202982" cy="294912"/>
            <a:chOff x="5746390" y="3629221"/>
            <a:chExt cx="3009792" cy="808807"/>
          </a:xfrm>
          <a:solidFill>
            <a:schemeClr val="accent4"/>
          </a:solidFill>
        </p:grpSpPr>
        <p:sp>
          <p:nvSpPr>
            <p:cNvPr id="24" name="Arrow: Chevron 23">
              <a:extLst>
                <a:ext uri="{FF2B5EF4-FFF2-40B4-BE49-F238E27FC236}">
                  <a16:creationId xmlns:a16="http://schemas.microsoft.com/office/drawing/2014/main" id="{57C23F80-52E8-45ED-8255-1C881BF34F43}"/>
                </a:ext>
              </a:extLst>
            </p:cNvPr>
            <p:cNvSpPr/>
            <p:nvPr/>
          </p:nvSpPr>
          <p:spPr>
            <a:xfrm>
              <a:off x="5746390" y="3629221"/>
              <a:ext cx="3009792" cy="808807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bg1"/>
                  </a:solidFill>
                  <a:latin typeface="+mj-lt"/>
                </a:rPr>
                <a:t>g</a:t>
              </a:r>
              <a:r>
                <a:rPr lang="en-US" sz="2000" b="0" i="0" u="none" strike="noStrike" dirty="0">
                  <a:solidFill>
                    <a:schemeClr val="bg1"/>
                  </a:solidFill>
                  <a:effectLst/>
                  <a:latin typeface="+mj-lt"/>
                </a:rPr>
                <a:t>pt-4</a:t>
              </a:r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80C6638B-85F4-49A7-8AD2-1F783B368565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390FDD96-1A2D-4F69-A6AF-9F832CDEA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8" y="1495865"/>
            <a:ext cx="9096802" cy="98921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8D93E-DDB1-4310-A38B-97769D738AC2}"/>
              </a:ext>
            </a:extLst>
          </p:cNvPr>
          <p:cNvGrpSpPr/>
          <p:nvPr/>
        </p:nvGrpSpPr>
        <p:grpSpPr>
          <a:xfrm>
            <a:off x="6832600" y="1504660"/>
            <a:ext cx="2202982" cy="294912"/>
            <a:chOff x="5746390" y="3629221"/>
            <a:chExt cx="3009792" cy="808807"/>
          </a:xfrm>
          <a:solidFill>
            <a:schemeClr val="accent3"/>
          </a:solidFill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B6EA29C0-EF17-40A1-8424-456886882038}"/>
                </a:ext>
              </a:extLst>
            </p:cNvPr>
            <p:cNvSpPr/>
            <p:nvPr/>
          </p:nvSpPr>
          <p:spPr>
            <a:xfrm>
              <a:off x="5746390" y="3629221"/>
              <a:ext cx="3009792" cy="808807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bg1"/>
                  </a:solidFill>
                  <a:latin typeface="+mj-lt"/>
                </a:rPr>
                <a:t>gpt-3.5-turbo</a:t>
              </a:r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D2B761D6-247F-4497-AFBD-055999649AA0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796C4768-04F6-4327-B0F6-35C3087002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00" y="896198"/>
            <a:ext cx="9018809" cy="583377"/>
          </a:xfrm>
          <a:prstGeom prst="rect">
            <a:avLst/>
          </a:prstGeom>
        </p:spPr>
      </p:pic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395AE03C-72CD-4747-BA18-73E275E573AB}"/>
              </a:ext>
            </a:extLst>
          </p:cNvPr>
          <p:cNvSpPr/>
          <p:nvPr/>
        </p:nvSpPr>
        <p:spPr>
          <a:xfrm>
            <a:off x="6861629" y="610304"/>
            <a:ext cx="2202982" cy="29491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llama-3-8b</a:t>
            </a:r>
            <a:endParaRPr 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2AF9772-1065-4299-A85B-CA14CEA64E5C}"/>
              </a:ext>
            </a:extLst>
          </p:cNvPr>
          <p:cNvCxnSpPr/>
          <p:nvPr/>
        </p:nvCxnSpPr>
        <p:spPr>
          <a:xfrm>
            <a:off x="81555" y="4302690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6E8503-2AA6-4A4A-BD58-D59FE3D12037}"/>
              </a:ext>
            </a:extLst>
          </p:cNvPr>
          <p:cNvCxnSpPr/>
          <p:nvPr/>
        </p:nvCxnSpPr>
        <p:spPr>
          <a:xfrm>
            <a:off x="113705" y="3254939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3902CA-56D8-48C4-9821-8C8E2E208F60}"/>
              </a:ext>
            </a:extLst>
          </p:cNvPr>
          <p:cNvCxnSpPr/>
          <p:nvPr/>
        </p:nvCxnSpPr>
        <p:spPr>
          <a:xfrm>
            <a:off x="139269" y="2520570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90AB389-D512-420B-BCDA-89351889A6AC}"/>
              </a:ext>
            </a:extLst>
          </p:cNvPr>
          <p:cNvCxnSpPr/>
          <p:nvPr/>
        </p:nvCxnSpPr>
        <p:spPr>
          <a:xfrm>
            <a:off x="126806" y="1479575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189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6729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Код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4218EF-9A2C-41EE-956D-E86BC7117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1551"/>
              </p:ext>
            </p:extLst>
          </p:nvPr>
        </p:nvGraphicFramePr>
        <p:xfrm>
          <a:off x="119561" y="594051"/>
          <a:ext cx="4572001" cy="4191508"/>
        </p:xfrm>
        <a:graphic>
          <a:graphicData uri="http://schemas.openxmlformats.org/drawingml/2006/table">
            <a:tbl>
              <a:tblPr/>
              <a:tblGrid>
                <a:gridCol w="4572001">
                  <a:extLst>
                    <a:ext uri="{9D8B030D-6E8A-4147-A177-3AD203B41FA5}">
                      <a16:colId xmlns:a16="http://schemas.microsoft.com/office/drawing/2014/main" val="3756415931"/>
                    </a:ext>
                  </a:extLst>
                </a:gridCol>
              </a:tblGrid>
              <a:tr h="3262312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os.environ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"LLAMA_LOG_LEVEL"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]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"ERROR"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sys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contextlib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redirect_stdout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redirect_stderr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llama_cpp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Llama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import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json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tm()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"model/mistral-7b-instruct-v0.1.Q3_K_L.gguf"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"model/mistral-7b-instruct-v0.1.Q8_0.gguf"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Путь к 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gguf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-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модели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open(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os.devnull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"w"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redirect_stdout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redirect_stderr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fnull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llm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Llama(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model_path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=MODEL,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n_ctx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sz="800" b="0" i="0" u="none" strike="noStrike" dirty="0">
                          <a:solidFill>
                            <a:srgbClr val="8A7B52"/>
                          </a:solidFill>
                          <a:effectLst/>
                          <a:latin typeface="Consolas" panose="020B0609020204030204" pitchFamily="49" charset="0"/>
                        </a:rPr>
                        <a:t>4096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  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Загрузка транскрипта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"transcript.txt"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with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open(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"r"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 encoding=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"utf-8"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 </a:t>
                      </a:r>
                      <a:r>
                        <a:rPr lang="en-US" sz="800" b="0" i="0" u="none" strike="noStrike" dirty="0">
                          <a:solidFill>
                            <a:srgbClr val="00979D"/>
                          </a:solidFill>
                          <a:effectLst/>
                          <a:latin typeface="Consolas" panose="020B0609020204030204" pitchFamily="49" charset="0"/>
                        </a:rPr>
                        <a:t>as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 f: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transcript = 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f.read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tm(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f'01. 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fname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sz="800" b="0" i="0" u="none" strike="noStrike" dirty="0" err="1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len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(transcript)}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with open("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template.json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", "r", encoding="utf-8") as f: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    template = </a:t>
                      </a:r>
                      <a:r>
                        <a:rPr lang="en-US" sz="800" b="0" i="0" u="none" strike="noStrike" dirty="0" err="1">
                          <a:effectLst/>
                          <a:latin typeface="Consolas" panose="020B0609020204030204" pitchFamily="49" charset="0"/>
                        </a:rPr>
                        <a:t>json.load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(f)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#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Шаблон (можно вынести в </a:t>
                      </a:r>
                      <a:r>
                        <a:rPr lang="en-US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JSON </a:t>
                      </a:r>
                      <a:r>
                        <a:rPr lang="ru-RU" sz="800" b="0" i="0" u="none" strike="noStrike" dirty="0">
                          <a:effectLst/>
                          <a:latin typeface="Consolas" panose="020B0609020204030204" pitchFamily="49" charset="0"/>
                        </a:rPr>
                        <a:t>для кастомизации)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template = {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"title"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Общественное движение в России во второй четверти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XIX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века"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sections"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[</a:t>
                      </a:r>
                      <a:b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План занятия"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"Основные концепции"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"Ключевые персоны"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"Сравнение концепций"</a:t>
                      </a: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"Даты ключевых событий"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],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style"</a:t>
                      </a:r>
                      <a:r>
                        <a:rPr lang="en-US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en-US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Сделай краткий конспект по учебному стилю, как в ЦИФРИУМ или </a:t>
                      </a:r>
                      <a:r>
                        <a:rPr lang="ru-RU" sz="800" b="0" i="0" u="none" strike="noStrike" dirty="0" err="1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Лекториум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. Добавь </a:t>
                      </a:r>
                      <a:r>
                        <a:rPr lang="ru-RU" sz="800" b="0" i="0" u="none" strike="noStrike" dirty="0" err="1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таймкоды</a:t>
                      </a:r>
                      <a:r>
                        <a:rPr lang="ru-RU" sz="800" b="0" i="0" u="none" strike="noStrike" dirty="0">
                          <a:solidFill>
                            <a:srgbClr val="005C5F"/>
                          </a:solidFill>
                          <a:effectLst/>
                          <a:latin typeface="Consolas" panose="020B0609020204030204" pitchFamily="49" charset="0"/>
                        </a:rPr>
                        <a:t>, ключевые понятия и списки."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br>
                        <a:rPr lang="ru-RU" sz="800" b="0" i="0" u="none" strike="noStrike" dirty="0">
                          <a:solidFill>
                            <a:srgbClr val="434F5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en-US" sz="900" dirty="0">
                        <a:effectLst/>
                      </a:endParaRPr>
                    </a:p>
                  </a:txBody>
                  <a:tcPr marL="15494" marR="15494" marT="15494" marB="1549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067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4D51A59-3194-4E9C-B250-6FB18D95B44D}"/>
              </a:ext>
            </a:extLst>
          </p:cNvPr>
          <p:cNvSpPr txBox="1"/>
          <p:nvPr/>
        </p:nvSpPr>
        <p:spPr>
          <a:xfrm>
            <a:off x="4691562" y="590114"/>
            <a:ext cx="4572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Формируем </a:t>
            </a:r>
            <a:r>
              <a:rPr lang="en-US" sz="1000" b="0" i="0" u="none" strike="noStrike" dirty="0">
                <a:effectLst/>
                <a:latin typeface="Consolas" panose="020B0609020204030204" pitchFamily="49" charset="0"/>
              </a:rPr>
              <a:t>prompt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prompt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f"""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Ты -- помощник-</a:t>
            </a:r>
            <a:r>
              <a:rPr lang="ru-RU" sz="1000" b="0" i="0" u="none" strike="noStrike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конспектолог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. Преобразуй данный текст в структурированный учебный конспект.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Исходный текст: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\"\"\"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transcript[: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4096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\"\"\"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Структура конспекта: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Название: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"title"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Разделы: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join(template[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"sections"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])}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Стиль: 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template[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"style"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]}</a:t>
            </a:r>
            <a:b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Ответ начни сразу с заголовка и структурированного текста:</a:t>
            </a:r>
            <a:b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Генерация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output =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llm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(prompt,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max_tokens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2048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temperature=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stop=[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"#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Конец"</a:t>
            </a: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# Извлекаем результат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result = output[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"choices"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00" b="0" i="0" u="none" strike="noStrike" dirty="0">
                <a:solidFill>
                  <a:srgbClr val="8A7B52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effectLst/>
                <a:latin typeface="Consolas" panose="020B0609020204030204" pitchFamily="49" charset="0"/>
              </a:rPr>
              <a:t># </a:t>
            </a:r>
            <a:r>
              <a:rPr lang="ru-RU" sz="1000" b="0" i="0" u="none" strike="noStrike" dirty="0">
                <a:effectLst/>
                <a:latin typeface="Consolas" panose="020B0609020204030204" pitchFamily="49" charset="0"/>
              </a:rPr>
              <a:t>Сохраняем результат</a:t>
            </a:r>
            <a:b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ru-RU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model =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MODEL.replace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"_"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open(</a:t>
            </a:r>
            <a:r>
              <a:rPr lang="en-US" sz="1000" b="0" i="0" u="none" strike="noStrike" dirty="0" err="1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f"conspect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{_model}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.txt"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"w"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, encoding=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00" b="0" i="0" u="none" strike="noStrike" dirty="0">
                <a:solidFill>
                  <a:srgbClr val="00979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 f: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f.write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00" b="0" i="0" u="none" strike="noStrike" dirty="0" err="1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result.strip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"✅ </a:t>
            </a:r>
            <a:r>
              <a:rPr lang="ru-RU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Готово! Конспект сохранён в 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conspect.txt"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</a:b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tm(</a:t>
            </a:r>
            <a:r>
              <a:rPr lang="en-US" sz="1000" b="0" i="0" u="none" strike="noStrike" dirty="0">
                <a:solidFill>
                  <a:srgbClr val="005C5F"/>
                </a:solidFill>
                <a:effectLst/>
                <a:latin typeface="Consolas" panose="020B0609020204030204" pitchFamily="49" charset="0"/>
              </a:rPr>
              <a:t>'&gt;&gt;&gt;'</a:t>
            </a:r>
            <a:r>
              <a:rPr lang="en-US" sz="1000" b="0" i="0" u="none" strike="noStrike" dirty="0">
                <a:solidFill>
                  <a:srgbClr val="434F5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85835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13587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Аналитика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XI.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5384F6-6C29-4E58-BC29-B22AA7C8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3279"/>
            <a:ext cx="3048000" cy="570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EBC4E3-4953-425B-934A-530FA6B12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48" y="853801"/>
            <a:ext cx="4114800" cy="13395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0779D1-E1E4-40E7-B9FD-C1FB0B3296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73" t="20326" r="11942" b="23528"/>
          <a:stretch/>
        </p:blipFill>
        <p:spPr>
          <a:xfrm>
            <a:off x="381000" y="683167"/>
            <a:ext cx="2971432" cy="1818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E302F6-981A-4BD2-A945-8B457A063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425446"/>
            <a:ext cx="4114800" cy="12319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44FF57-8332-4BD5-8233-668E82B92C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013" t="23173" r="8999" b="27438"/>
          <a:stretch/>
        </p:blipFill>
        <p:spPr>
          <a:xfrm>
            <a:off x="381000" y="2278364"/>
            <a:ext cx="2840020" cy="1381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93BD65-CF13-4001-862F-DA948EC76E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650" t="28150" r="8875" b="21858"/>
          <a:stretch/>
        </p:blipFill>
        <p:spPr>
          <a:xfrm>
            <a:off x="381001" y="3808299"/>
            <a:ext cx="2895600" cy="1798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1B07617-6FA7-4375-B321-BBB5841ED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968647"/>
            <a:ext cx="4114800" cy="11748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7BA43D3-EC4B-4BEA-A38A-B41960DBEAA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803" t="29300" r="11681" b="20497"/>
          <a:stretch/>
        </p:blipFill>
        <p:spPr>
          <a:xfrm>
            <a:off x="4971091" y="657625"/>
            <a:ext cx="2877509" cy="15238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AD01466-6208-4AE7-9775-5F3256F3F1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0" y="811910"/>
            <a:ext cx="3876227" cy="13639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C2220B6-C5BA-4683-BC3D-65E0511167E1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3201" t="25554" r="10860" b="16433"/>
          <a:stretch/>
        </p:blipFill>
        <p:spPr>
          <a:xfrm>
            <a:off x="5016606" y="2272704"/>
            <a:ext cx="2840019" cy="17164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55428EB-6504-42B4-B377-FAE79E080E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0" y="2444351"/>
            <a:ext cx="3876227" cy="122943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D010D20-3A18-41B0-B9FF-645739E7D65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0798" t="24651" r="9767" b="16098"/>
          <a:stretch/>
        </p:blipFill>
        <p:spPr>
          <a:xfrm>
            <a:off x="4971091" y="3763455"/>
            <a:ext cx="2697658" cy="17989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8BE4D18-BBC5-41AC-BFC1-E188C7BB09D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0" y="3942272"/>
            <a:ext cx="3876227" cy="120470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A2E8B87-D988-42D2-9DF2-F696B1566828}"/>
              </a:ext>
            </a:extLst>
          </p:cNvPr>
          <p:cNvSpPr/>
          <p:nvPr/>
        </p:nvSpPr>
        <p:spPr bwMode="auto">
          <a:xfrm>
            <a:off x="380999" y="657625"/>
            <a:ext cx="4091049" cy="1535692"/>
          </a:xfrm>
          <a:prstGeom prst="rect">
            <a:avLst/>
          </a:prstGeom>
          <a:noFill/>
          <a:ln w="76200">
            <a:solidFill>
              <a:srgbClr val="72B359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B1FF90-5589-40C4-8EC6-CDF8BA1EDF69}"/>
              </a:ext>
            </a:extLst>
          </p:cNvPr>
          <p:cNvSpPr/>
          <p:nvPr/>
        </p:nvSpPr>
        <p:spPr bwMode="auto">
          <a:xfrm>
            <a:off x="4971091" y="3727016"/>
            <a:ext cx="3868110" cy="136395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8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13587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Аналитика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XI.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EBC4E3-4953-425B-934A-530FA6B12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48" y="853801"/>
            <a:ext cx="4114800" cy="13395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0779D1-E1E4-40E7-B9FD-C1FB0B3296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73" t="20326" r="11942" b="23528"/>
          <a:stretch/>
        </p:blipFill>
        <p:spPr>
          <a:xfrm>
            <a:off x="381000" y="683167"/>
            <a:ext cx="2971432" cy="181853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A2E8B87-D988-42D2-9DF2-F696B1566828}"/>
              </a:ext>
            </a:extLst>
          </p:cNvPr>
          <p:cNvSpPr/>
          <p:nvPr/>
        </p:nvSpPr>
        <p:spPr bwMode="auto">
          <a:xfrm>
            <a:off x="380999" y="657625"/>
            <a:ext cx="4091049" cy="1535692"/>
          </a:xfrm>
          <a:prstGeom prst="rect">
            <a:avLst/>
          </a:prstGeom>
          <a:noFill/>
          <a:ln w="76200">
            <a:solidFill>
              <a:srgbClr val="72B359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0A4F35C-3B5D-41EA-9C77-77B4E24FA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771" y="689099"/>
            <a:ext cx="2340413" cy="1730251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95B675E8-B233-4420-90DB-BFF85B78C7D1}"/>
              </a:ext>
            </a:extLst>
          </p:cNvPr>
          <p:cNvSpPr/>
          <p:nvPr/>
        </p:nvSpPr>
        <p:spPr bwMode="auto">
          <a:xfrm>
            <a:off x="5791200" y="678212"/>
            <a:ext cx="2395165" cy="1741138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7F373FC-7677-4331-9E18-50D6D3A5A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-3373"/>
            <a:ext cx="4112394" cy="62012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BF05CB3-1A76-40CE-AFD6-F8D17DAAF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406" y="2446652"/>
            <a:ext cx="9144000" cy="269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267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13587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Аналитика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XI.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5384F6-6C29-4E58-BC29-B22AA7C8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3279"/>
            <a:ext cx="3048000" cy="570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EBC4E3-4953-425B-934A-530FA6B12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48" y="853801"/>
            <a:ext cx="4114800" cy="13395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0779D1-E1E4-40E7-B9FD-C1FB0B3296B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73" t="20326" r="11942" b="23528"/>
          <a:stretch/>
        </p:blipFill>
        <p:spPr>
          <a:xfrm>
            <a:off x="381000" y="683167"/>
            <a:ext cx="2971432" cy="1818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E302F6-981A-4BD2-A945-8B457A0636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425446"/>
            <a:ext cx="4114800" cy="12319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44FF57-8332-4BD5-8233-668E82B92C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013" t="23173" r="8999" b="27438"/>
          <a:stretch/>
        </p:blipFill>
        <p:spPr>
          <a:xfrm>
            <a:off x="381000" y="2278364"/>
            <a:ext cx="2840020" cy="1381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93BD65-CF13-4001-862F-DA948EC76E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1650" t="28150" r="8875" b="21858"/>
          <a:stretch/>
        </p:blipFill>
        <p:spPr>
          <a:xfrm>
            <a:off x="381001" y="3808299"/>
            <a:ext cx="2895600" cy="1798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1B07617-6FA7-4375-B321-BBB5841ED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968647"/>
            <a:ext cx="4114800" cy="11748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7BA43D3-EC4B-4BEA-A38A-B41960DBEAA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803" t="29300" r="11681" b="20497"/>
          <a:stretch/>
        </p:blipFill>
        <p:spPr>
          <a:xfrm>
            <a:off x="4971091" y="657625"/>
            <a:ext cx="2877509" cy="15238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AD01466-6208-4AE7-9775-5F3256F3F1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0" y="811910"/>
            <a:ext cx="3876227" cy="13639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C2220B6-C5BA-4683-BC3D-65E0511167E1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3201" t="25554" r="10860" b="16433"/>
          <a:stretch/>
        </p:blipFill>
        <p:spPr>
          <a:xfrm>
            <a:off x="5016606" y="2272704"/>
            <a:ext cx="2840019" cy="17164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55428EB-6504-42B4-B377-FAE79E080E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0" y="2444351"/>
            <a:ext cx="3876227" cy="122943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D010D20-3A18-41B0-B9FF-645739E7D65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0798" t="24651" r="9767" b="16098"/>
          <a:stretch/>
        </p:blipFill>
        <p:spPr>
          <a:xfrm>
            <a:off x="4971091" y="3763455"/>
            <a:ext cx="2697658" cy="17989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8BE4D18-BBC5-41AC-BFC1-E188C7BB09D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0" y="3942272"/>
            <a:ext cx="3876227" cy="1204705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A2E8B87-D988-42D2-9DF2-F696B1566828}"/>
              </a:ext>
            </a:extLst>
          </p:cNvPr>
          <p:cNvSpPr/>
          <p:nvPr/>
        </p:nvSpPr>
        <p:spPr bwMode="auto">
          <a:xfrm>
            <a:off x="380999" y="657625"/>
            <a:ext cx="4091049" cy="1535692"/>
          </a:xfrm>
          <a:prstGeom prst="rect">
            <a:avLst/>
          </a:prstGeom>
          <a:noFill/>
          <a:ln w="76200">
            <a:solidFill>
              <a:srgbClr val="72B359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B1FF90-5589-40C4-8EC6-CDF8BA1EDF69}"/>
              </a:ext>
            </a:extLst>
          </p:cNvPr>
          <p:cNvSpPr/>
          <p:nvPr/>
        </p:nvSpPr>
        <p:spPr bwMode="auto">
          <a:xfrm>
            <a:off x="4971091" y="3727016"/>
            <a:ext cx="3868110" cy="136395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3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9C7A-5BCE-4143-BD20-4F6E85BF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86147-6000-46C0-AE4D-E856FFDFE0CD}"/>
              </a:ext>
            </a:extLst>
          </p:cNvPr>
          <p:cNvSpPr/>
          <p:nvPr/>
        </p:nvSpPr>
        <p:spPr bwMode="auto">
          <a:xfrm>
            <a:off x="698683" y="0"/>
            <a:ext cx="1358717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Аналитика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6B5C0-7A9B-4E54-81E2-DE79DD8E0F50}"/>
              </a:ext>
            </a:extLst>
          </p:cNvPr>
          <p:cNvSpPr/>
          <p:nvPr/>
        </p:nvSpPr>
        <p:spPr bwMode="auto">
          <a:xfrm>
            <a:off x="2406" y="0"/>
            <a:ext cx="594360" cy="590114"/>
          </a:xfrm>
          <a:prstGeom prst="rect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XI.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BD010D20-3A18-41B0-B9FF-645739E7D6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98" t="24651" r="9767" b="16098"/>
          <a:stretch/>
        </p:blipFill>
        <p:spPr>
          <a:xfrm>
            <a:off x="4971091" y="3763455"/>
            <a:ext cx="2697658" cy="17989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8BE4D18-BBC5-41AC-BFC1-E188C7BB0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942272"/>
            <a:ext cx="3876227" cy="1204705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0B1FF90-5589-40C4-8EC6-CDF8BA1EDF69}"/>
              </a:ext>
            </a:extLst>
          </p:cNvPr>
          <p:cNvSpPr/>
          <p:nvPr/>
        </p:nvSpPr>
        <p:spPr bwMode="auto">
          <a:xfrm>
            <a:off x="4971091" y="3727016"/>
            <a:ext cx="3868110" cy="1359334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842863B-042B-4F81-9475-9C743A14C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6750"/>
            <a:ext cx="9144000" cy="26526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7765A25-AAD0-4658-8139-C50D021C04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254"/>
          <a:stretch/>
        </p:blipFill>
        <p:spPr>
          <a:xfrm>
            <a:off x="4533935" y="0"/>
            <a:ext cx="4607659" cy="6380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EAFAB7F-45EA-4518-8151-0A8553934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703" y="3390214"/>
            <a:ext cx="2408697" cy="58187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7CAD6CF-DB2D-40A8-954D-9F329B5A19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972090"/>
            <a:ext cx="2395165" cy="105549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2E3782B-0C1A-4F6B-9391-6E81D31BD9AF}"/>
              </a:ext>
            </a:extLst>
          </p:cNvPr>
          <p:cNvSpPr/>
          <p:nvPr/>
        </p:nvSpPr>
        <p:spPr bwMode="auto">
          <a:xfrm>
            <a:off x="381000" y="3333750"/>
            <a:ext cx="2395165" cy="1752600"/>
          </a:xfrm>
          <a:prstGeom prst="rect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88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5E4-E6AB-458A-A633-6C54E0C6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CC385-87AB-49FB-9265-8CF03D69B378}"/>
              </a:ext>
            </a:extLst>
          </p:cNvPr>
          <p:cNvSpPr/>
          <p:nvPr/>
        </p:nvSpPr>
        <p:spPr bwMode="auto">
          <a:xfrm>
            <a:off x="838199" y="116467"/>
            <a:ext cx="8239915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Тестирование. Проблема предлогов, окончаний, суффиксов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и приставок.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76F5CDF2-81D1-4406-9938-D6C1D7ADAC0E}"/>
              </a:ext>
            </a:extLst>
          </p:cNvPr>
          <p:cNvSpPr/>
          <p:nvPr/>
        </p:nvSpPr>
        <p:spPr>
          <a:xfrm>
            <a:off x="6875133" y="3010748"/>
            <a:ext cx="2202982" cy="283448"/>
          </a:xfrm>
          <a:prstGeom prst="chevron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+mj-lt"/>
              </a:rPr>
              <a:t>large-v3</a:t>
            </a:r>
            <a:endParaRPr lang="en-US" sz="9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FA644-12F0-4C3C-98F4-ED4E61009545}"/>
              </a:ext>
            </a:extLst>
          </p:cNvPr>
          <p:cNvSpPr/>
          <p:nvPr/>
        </p:nvSpPr>
        <p:spPr bwMode="auto">
          <a:xfrm>
            <a:off x="141924" y="116467"/>
            <a:ext cx="594360" cy="590114"/>
          </a:xfrm>
          <a:prstGeom prst="rect">
            <a:avLst/>
          </a:pr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XII.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E8F670-D80C-4968-8189-15FB8B6A0973}"/>
              </a:ext>
            </a:extLst>
          </p:cNvPr>
          <p:cNvGrpSpPr/>
          <p:nvPr/>
        </p:nvGrpSpPr>
        <p:grpSpPr>
          <a:xfrm>
            <a:off x="6859700" y="1952570"/>
            <a:ext cx="2202982" cy="773485"/>
            <a:chOff x="5859401" y="3695924"/>
            <a:chExt cx="3009792" cy="1771453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3A949516-8926-4276-9AA4-D623A5F24B7A}"/>
                </a:ext>
              </a:extLst>
            </p:cNvPr>
            <p:cNvSpPr/>
            <p:nvPr/>
          </p:nvSpPr>
          <p:spPr>
            <a:xfrm>
              <a:off x="5859401" y="4824422"/>
              <a:ext cx="3009792" cy="642955"/>
            </a:xfrm>
            <a:prstGeom prst="chevron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bg1"/>
                  </a:solidFill>
                  <a:latin typeface="+mj-lt"/>
                </a:rPr>
                <a:t>large-v2</a:t>
              </a:r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F2F1FFC3-4AE7-4DF1-8263-7CA3A7509FFA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solidFill>
              <a:schemeClr val="bg1">
                <a:alpha val="3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</p:grp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57C23F80-52E8-45ED-8255-1C881BF34F43}"/>
              </a:ext>
            </a:extLst>
          </p:cNvPr>
          <p:cNvSpPr/>
          <p:nvPr/>
        </p:nvSpPr>
        <p:spPr>
          <a:xfrm>
            <a:off x="6847160" y="1837973"/>
            <a:ext cx="2202982" cy="294912"/>
          </a:xfrm>
          <a:prstGeom prst="chevr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dirty="0">
                <a:solidFill>
                  <a:schemeClr val="bg1"/>
                </a:solidFill>
                <a:latin typeface="+mj-lt"/>
              </a:rPr>
              <a:t>large-v1</a:t>
            </a:r>
            <a:endParaRPr lang="en-US" sz="1050" b="1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98D93E-DDB1-4310-A38B-97769D738AC2}"/>
              </a:ext>
            </a:extLst>
          </p:cNvPr>
          <p:cNvGrpSpPr/>
          <p:nvPr/>
        </p:nvGrpSpPr>
        <p:grpSpPr>
          <a:xfrm>
            <a:off x="6819499" y="1284356"/>
            <a:ext cx="2202982" cy="335881"/>
            <a:chOff x="5746390" y="3450169"/>
            <a:chExt cx="3009792" cy="921167"/>
          </a:xfrm>
          <a:solidFill>
            <a:schemeClr val="accent3"/>
          </a:solidFill>
        </p:grpSpPr>
        <p:sp>
          <p:nvSpPr>
            <p:cNvPr id="29" name="Arrow: Chevron 28">
              <a:extLst>
                <a:ext uri="{FF2B5EF4-FFF2-40B4-BE49-F238E27FC236}">
                  <a16:creationId xmlns:a16="http://schemas.microsoft.com/office/drawing/2014/main" id="{B6EA29C0-EF17-40A1-8424-456886882038}"/>
                </a:ext>
              </a:extLst>
            </p:cNvPr>
            <p:cNvSpPr/>
            <p:nvPr/>
          </p:nvSpPr>
          <p:spPr>
            <a:xfrm>
              <a:off x="5746390" y="3450169"/>
              <a:ext cx="3009792" cy="808807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rtlCol="0" anchor="ctr"/>
            <a:lstStyle/>
            <a:p>
              <a:pPr marL="0" indent="0" algn="ctr">
                <a:spcAft>
                  <a:spcPts val="0"/>
                </a:spcAft>
                <a:buNone/>
              </a:pPr>
              <a:r>
                <a:rPr lang="en-US" sz="2000" dirty="0">
                  <a:solidFill>
                    <a:schemeClr val="bg1"/>
                  </a:solidFill>
                  <a:latin typeface="+mj-lt"/>
                </a:rPr>
                <a:t>large</a:t>
              </a:r>
              <a:endParaRPr lang="en-US" sz="1050" b="1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D2B761D6-247F-4497-AFBD-055999649AA0}"/>
                </a:ext>
              </a:extLst>
            </p:cNvPr>
            <p:cNvSpPr/>
            <p:nvPr/>
          </p:nvSpPr>
          <p:spPr bwMode="auto">
            <a:xfrm rot="5400000">
              <a:off x="8160817" y="3860063"/>
              <a:ext cx="675412" cy="347133"/>
            </a:xfrm>
            <a:prstGeom prst="triangl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395AE03C-72CD-4747-BA18-73E275E573AB}"/>
              </a:ext>
            </a:extLst>
          </p:cNvPr>
          <p:cNvSpPr/>
          <p:nvPr/>
        </p:nvSpPr>
        <p:spPr>
          <a:xfrm>
            <a:off x="6859700" y="732125"/>
            <a:ext cx="2202982" cy="294912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</a:rPr>
              <a:t>base</a:t>
            </a:r>
            <a:endParaRPr lang="en-US" sz="1050" b="1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2AF9772-1065-4299-A85B-CA14CEA64E5C}"/>
              </a:ext>
            </a:extLst>
          </p:cNvPr>
          <p:cNvCxnSpPr/>
          <p:nvPr/>
        </p:nvCxnSpPr>
        <p:spPr>
          <a:xfrm>
            <a:off x="88685" y="2945645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6E8503-2AA6-4A4A-BD58-D59FE3D12037}"/>
              </a:ext>
            </a:extLst>
          </p:cNvPr>
          <p:cNvCxnSpPr/>
          <p:nvPr/>
        </p:nvCxnSpPr>
        <p:spPr>
          <a:xfrm>
            <a:off x="52154" y="2390119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3902CA-56D8-48C4-9821-8C8E2E208F60}"/>
              </a:ext>
            </a:extLst>
          </p:cNvPr>
          <p:cNvCxnSpPr/>
          <p:nvPr/>
        </p:nvCxnSpPr>
        <p:spPr>
          <a:xfrm>
            <a:off x="113705" y="1790422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90AB389-D512-420B-BCDA-89351889A6AC}"/>
              </a:ext>
            </a:extLst>
          </p:cNvPr>
          <p:cNvCxnSpPr/>
          <p:nvPr/>
        </p:nvCxnSpPr>
        <p:spPr>
          <a:xfrm>
            <a:off x="88685" y="1231791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1F7097D-0000-4D34-9E49-B5A101983C7B}"/>
              </a:ext>
            </a:extLst>
          </p:cNvPr>
          <p:cNvSpPr txBox="1"/>
          <p:nvPr/>
        </p:nvSpPr>
        <p:spPr>
          <a:xfrm>
            <a:off x="-19050" y="963209"/>
            <a:ext cx="9601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>
                <a:highlight>
                  <a:srgbClr val="FF0000"/>
                </a:highlight>
              </a:rPr>
              <a:t>Челено</a:t>
            </a:r>
            <a:r>
              <a:rPr lang="en-US" sz="1250" dirty="0"/>
              <a:t> </a:t>
            </a:r>
            <a:r>
              <a:rPr lang="ru-RU" sz="1250" dirty="0" err="1">
                <a:highlight>
                  <a:srgbClr val="FF0000"/>
                </a:highlight>
              </a:rPr>
              <a:t>теоритеческого</a:t>
            </a:r>
            <a:r>
              <a:rPr lang="ru-RU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К</a:t>
            </a:r>
            <a:r>
              <a:rPr lang="en-US" sz="1250" dirty="0" err="1"/>
              <a:t>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единственноверным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при</a:t>
            </a:r>
            <a:r>
              <a:rPr lang="en-US" sz="1250" dirty="0">
                <a:highlight>
                  <a:srgbClr val="FF0000"/>
                </a:highlight>
              </a:rPr>
              <a:t> </a:t>
            </a:r>
            <a:r>
              <a:rPr lang="en-US" sz="1250" dirty="0" err="1">
                <a:highlight>
                  <a:srgbClr val="FF0000"/>
                </a:highlight>
              </a:rPr>
              <a:t>образовании</a:t>
            </a:r>
            <a:r>
              <a:rPr lang="en-US" sz="1250" dirty="0">
                <a:highlight>
                  <a:srgbClr val="FF0000"/>
                </a:highlight>
              </a:rPr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при</a:t>
            </a:r>
            <a:r>
              <a:rPr lang="en-US" sz="1250" dirty="0" err="1"/>
              <a:t>волюцию</a:t>
            </a:r>
            <a:r>
              <a:rPr lang="en-US" sz="1250" dirty="0"/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BF280D-35A0-411C-8138-6851726C8DC1}"/>
              </a:ext>
            </a:extLst>
          </p:cNvPr>
          <p:cNvSpPr txBox="1"/>
          <p:nvPr/>
        </p:nvSpPr>
        <p:spPr>
          <a:xfrm>
            <a:off x="-89331" y="1498034"/>
            <a:ext cx="9601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en-US" sz="1250" dirty="0"/>
              <a:t> </a:t>
            </a:r>
            <a:r>
              <a:rPr lang="ru-RU" sz="1250" dirty="0"/>
              <a:t>террористического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единственно</a:t>
            </a:r>
            <a:r>
              <a:rPr lang="en-US" sz="1250" dirty="0"/>
              <a:t> </a:t>
            </a:r>
            <a:r>
              <a:rPr lang="en-US" sz="1250" dirty="0" err="1"/>
              <a:t>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 err="1"/>
              <a:t>революцию</a:t>
            </a:r>
            <a:r>
              <a:rPr lang="en-US" sz="1250" dirty="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C653E6-794E-45B8-95DD-F81BF2D88561}"/>
              </a:ext>
            </a:extLst>
          </p:cNvPr>
          <p:cNvSpPr txBox="1"/>
          <p:nvPr/>
        </p:nvSpPr>
        <p:spPr>
          <a:xfrm>
            <a:off x="-70040" y="2107612"/>
            <a:ext cx="94488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ru-RU" sz="1250" dirty="0"/>
              <a:t> террористического</a:t>
            </a:r>
            <a:r>
              <a:rPr lang="en-US" sz="1250" dirty="0"/>
              <a:t>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единственно</a:t>
            </a:r>
            <a:r>
              <a:rPr lang="en-US" sz="1250" dirty="0"/>
              <a:t> </a:t>
            </a:r>
            <a:r>
              <a:rPr lang="en-US" sz="1250" dirty="0" err="1"/>
              <a:t>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 err="1"/>
              <a:t>революцию</a:t>
            </a:r>
            <a:r>
              <a:rPr lang="en-US" sz="1250" dirty="0"/>
              <a:t>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8122B3-FF43-488B-99C1-5E5613E39048}"/>
              </a:ext>
            </a:extLst>
          </p:cNvPr>
          <p:cNvSpPr txBox="1"/>
          <p:nvPr/>
        </p:nvSpPr>
        <p:spPr>
          <a:xfrm>
            <a:off x="-70040" y="2660952"/>
            <a:ext cx="926505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en-US" sz="1250" dirty="0"/>
              <a:t> </a:t>
            </a:r>
            <a:r>
              <a:rPr lang="ru-RU" sz="1250" dirty="0"/>
              <a:t>террористического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единственно</a:t>
            </a:r>
            <a:r>
              <a:rPr lang="en-US" sz="1250" dirty="0"/>
              <a:t> </a:t>
            </a:r>
            <a:r>
              <a:rPr lang="en-US" sz="1250" dirty="0" err="1"/>
              <a:t>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>
                <a:highlight>
                  <a:srgbClr val="FF0000"/>
                </a:highlight>
              </a:rPr>
              <a:t>в</a:t>
            </a:r>
            <a:r>
              <a:rPr lang="en-US" sz="1250" dirty="0"/>
              <a:t> </a:t>
            </a:r>
            <a:r>
              <a:rPr lang="en-US" sz="1250" dirty="0" err="1"/>
              <a:t>революцию</a:t>
            </a:r>
            <a:r>
              <a:rPr lang="en-US" sz="1250" dirty="0"/>
              <a:t>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709D7A-5D49-4DB6-BBDD-F4564861910A}"/>
              </a:ext>
            </a:extLst>
          </p:cNvPr>
          <p:cNvSpPr txBox="1"/>
          <p:nvPr/>
        </p:nvSpPr>
        <p:spPr>
          <a:xfrm>
            <a:off x="-49784" y="3235018"/>
            <a:ext cx="935107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en-US" sz="1250" dirty="0"/>
              <a:t> </a:t>
            </a:r>
            <a:r>
              <a:rPr lang="ru-RU" sz="1250" dirty="0"/>
              <a:t>террористического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единственно</a:t>
            </a:r>
            <a:r>
              <a:rPr lang="en-US" sz="1250" dirty="0"/>
              <a:t> </a:t>
            </a:r>
            <a:r>
              <a:rPr lang="en-US" sz="1250" dirty="0" err="1"/>
              <a:t>верным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>
                <a:highlight>
                  <a:srgbClr val="FF0000"/>
                </a:highlight>
              </a:rPr>
              <a:t>в</a:t>
            </a:r>
            <a:r>
              <a:rPr lang="en-US" sz="1250" dirty="0"/>
              <a:t> </a:t>
            </a:r>
            <a:r>
              <a:rPr lang="en-US" sz="1250" dirty="0" err="1"/>
              <a:t>революцию</a:t>
            </a:r>
            <a:r>
              <a:rPr lang="en-US" sz="1250" dirty="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4D57FC-5AF7-482C-B71E-5C7BF7ECA11F}"/>
              </a:ext>
            </a:extLst>
          </p:cNvPr>
          <p:cNvSpPr txBox="1"/>
          <p:nvPr/>
        </p:nvSpPr>
        <p:spPr>
          <a:xfrm>
            <a:off x="-40951" y="3819243"/>
            <a:ext cx="9390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highlight>
                  <a:srgbClr val="FF0000"/>
                </a:highlight>
              </a:rPr>
              <a:t>Челены</a:t>
            </a:r>
            <a:r>
              <a:rPr lang="ru-RU" sz="1200" dirty="0"/>
              <a:t> террористического</a:t>
            </a:r>
            <a:r>
              <a:rPr lang="en-US" sz="1200" dirty="0"/>
              <a:t> </a:t>
            </a:r>
            <a:r>
              <a:rPr lang="en-US" sz="1200" dirty="0" err="1"/>
              <a:t>кружка</a:t>
            </a:r>
            <a:r>
              <a:rPr lang="en-US" sz="1200" dirty="0"/>
              <a:t> </a:t>
            </a:r>
            <a:r>
              <a:rPr lang="en-US" sz="1200" dirty="0" err="1"/>
              <a:t>считали</a:t>
            </a:r>
            <a:r>
              <a:rPr lang="en-US" sz="1200" dirty="0"/>
              <a:t> </a:t>
            </a:r>
            <a:r>
              <a:rPr lang="en-US" sz="1200" dirty="0" err="1"/>
              <a:t>единственн</a:t>
            </a:r>
            <a:r>
              <a:rPr lang="en-US" sz="1200" dirty="0" err="1">
                <a:highlight>
                  <a:srgbClr val="FF0000"/>
                </a:highlight>
              </a:rPr>
              <a:t>ым</a:t>
            </a:r>
            <a:r>
              <a:rPr lang="en-US" sz="1200" dirty="0"/>
              <a:t> </a:t>
            </a:r>
            <a:r>
              <a:rPr lang="en-US" sz="1200" dirty="0" err="1"/>
              <a:t>верным</a:t>
            </a:r>
            <a:r>
              <a:rPr lang="en-US" sz="1200" dirty="0"/>
              <a:t> </a:t>
            </a:r>
            <a:r>
              <a:rPr lang="en-US" sz="1200" dirty="0" err="1"/>
              <a:t>решением</a:t>
            </a:r>
            <a:r>
              <a:rPr lang="en-US" sz="1200" dirty="0"/>
              <a:t> </a:t>
            </a:r>
            <a:r>
              <a:rPr lang="en-US" sz="1200" dirty="0" err="1"/>
              <a:t>преобразования</a:t>
            </a:r>
            <a:r>
              <a:rPr lang="en-US" sz="1200" dirty="0"/>
              <a:t> </a:t>
            </a:r>
            <a:r>
              <a:rPr lang="en-US" sz="1200" dirty="0" err="1"/>
              <a:t>государства</a:t>
            </a:r>
            <a:r>
              <a:rPr lang="en-US" sz="1200" dirty="0"/>
              <a:t> </a:t>
            </a:r>
            <a:r>
              <a:rPr lang="en-US" sz="1200" dirty="0">
                <a:highlight>
                  <a:srgbClr val="FF0000"/>
                </a:highlight>
              </a:rPr>
              <a:t>в</a:t>
            </a:r>
            <a:r>
              <a:rPr lang="en-US" sz="1200" dirty="0"/>
              <a:t> </a:t>
            </a:r>
            <a:r>
              <a:rPr lang="en-US" sz="1200" dirty="0" err="1"/>
              <a:t>революцию</a:t>
            </a:r>
            <a:r>
              <a:rPr lang="en-US" sz="1200" dirty="0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DB651F-5A89-4608-BC11-B0E28E76C9E3}"/>
              </a:ext>
            </a:extLst>
          </p:cNvPr>
          <p:cNvSpPr txBox="1"/>
          <p:nvPr/>
        </p:nvSpPr>
        <p:spPr>
          <a:xfrm>
            <a:off x="-53059" y="4373370"/>
            <a:ext cx="935107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 err="1"/>
              <a:t>Члены</a:t>
            </a:r>
            <a:r>
              <a:rPr lang="ru-RU" sz="1250" dirty="0"/>
              <a:t> террористического</a:t>
            </a:r>
            <a:r>
              <a:rPr lang="en-US" sz="1250" dirty="0"/>
              <a:t> </a:t>
            </a:r>
            <a:r>
              <a:rPr lang="en-US" sz="1250" dirty="0" err="1"/>
              <a:t>кружка</a:t>
            </a:r>
            <a:r>
              <a:rPr lang="en-US" sz="1250" dirty="0"/>
              <a:t> </a:t>
            </a:r>
            <a:r>
              <a:rPr lang="en-US" sz="1250" dirty="0" err="1"/>
              <a:t>считали</a:t>
            </a:r>
            <a:r>
              <a:rPr lang="en-US" sz="1250" dirty="0"/>
              <a:t> </a:t>
            </a:r>
            <a:r>
              <a:rPr lang="en-US" sz="1250" dirty="0" err="1"/>
              <a:t>единственн</a:t>
            </a:r>
            <a:r>
              <a:rPr lang="en-US" sz="1250" dirty="0" err="1">
                <a:highlight>
                  <a:srgbClr val="FF0000"/>
                </a:highlight>
              </a:rPr>
              <a:t>ое</a:t>
            </a:r>
            <a:r>
              <a:rPr lang="en-US" sz="1250" dirty="0"/>
              <a:t> </a:t>
            </a:r>
            <a:r>
              <a:rPr lang="en-US" sz="1250" dirty="0" err="1"/>
              <a:t>верн</a:t>
            </a:r>
            <a:r>
              <a:rPr lang="en-US" sz="1250" dirty="0" err="1">
                <a:highlight>
                  <a:srgbClr val="FF0000"/>
                </a:highlight>
              </a:rPr>
              <a:t>ом</a:t>
            </a:r>
            <a:r>
              <a:rPr lang="en-US" sz="1250" dirty="0"/>
              <a:t> </a:t>
            </a:r>
            <a:r>
              <a:rPr lang="en-US" sz="1250" dirty="0" err="1"/>
              <a:t>решением</a:t>
            </a:r>
            <a:r>
              <a:rPr lang="en-US" sz="1250" dirty="0"/>
              <a:t> </a:t>
            </a:r>
            <a:r>
              <a:rPr lang="en-US" sz="1250" dirty="0" err="1"/>
              <a:t>преобразования</a:t>
            </a:r>
            <a:r>
              <a:rPr lang="en-US" sz="1250" dirty="0"/>
              <a:t> </a:t>
            </a:r>
            <a:r>
              <a:rPr lang="en-US" sz="1250" dirty="0" err="1"/>
              <a:t>государства</a:t>
            </a:r>
            <a:r>
              <a:rPr lang="en-US" sz="1250" dirty="0"/>
              <a:t> </a:t>
            </a:r>
            <a:r>
              <a:rPr lang="en-US" sz="1250" dirty="0" err="1">
                <a:highlight>
                  <a:srgbClr val="FF0000"/>
                </a:highlight>
              </a:rPr>
              <a:t>при</a:t>
            </a:r>
            <a:r>
              <a:rPr lang="en-US" sz="1250" dirty="0" err="1"/>
              <a:t>волюцию</a:t>
            </a:r>
            <a:r>
              <a:rPr lang="en-US" sz="1250" dirty="0"/>
              <a:t>. </a:t>
            </a:r>
          </a:p>
        </p:txBody>
      </p:sp>
      <p:sp>
        <p:nvSpPr>
          <p:cNvPr id="52" name="Arrow: Chevron 51">
            <a:extLst>
              <a:ext uri="{FF2B5EF4-FFF2-40B4-BE49-F238E27FC236}">
                <a16:creationId xmlns:a16="http://schemas.microsoft.com/office/drawing/2014/main" id="{585542CD-8410-48A7-8EE9-47AE474E5DF1}"/>
              </a:ext>
            </a:extLst>
          </p:cNvPr>
          <p:cNvSpPr/>
          <p:nvPr/>
        </p:nvSpPr>
        <p:spPr>
          <a:xfrm>
            <a:off x="6875133" y="4143144"/>
            <a:ext cx="2202982" cy="294912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tiny</a:t>
            </a:r>
            <a:endParaRPr lang="en-US" sz="10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FEF8BA0D-2862-4236-973F-27E9B6C7AB8F}"/>
              </a:ext>
            </a:extLst>
          </p:cNvPr>
          <p:cNvSpPr/>
          <p:nvPr/>
        </p:nvSpPr>
        <p:spPr>
          <a:xfrm>
            <a:off x="6875133" y="3536118"/>
            <a:ext cx="2202982" cy="294912"/>
          </a:xfrm>
          <a:prstGeom prst="chevron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Ins="9144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small</a:t>
            </a:r>
            <a:endParaRPr lang="en-US" sz="105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98D87EB-26B1-4689-8FD3-BF6D3829CF1E}"/>
              </a:ext>
            </a:extLst>
          </p:cNvPr>
          <p:cNvCxnSpPr/>
          <p:nvPr/>
        </p:nvCxnSpPr>
        <p:spPr>
          <a:xfrm>
            <a:off x="52154" y="3486150"/>
            <a:ext cx="8908776" cy="0"/>
          </a:xfrm>
          <a:prstGeom prst="line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BD510F2-68FA-4AF4-A7E3-8D885E71028E}"/>
              </a:ext>
            </a:extLst>
          </p:cNvPr>
          <p:cNvCxnSpPr/>
          <p:nvPr/>
        </p:nvCxnSpPr>
        <p:spPr>
          <a:xfrm>
            <a:off x="52154" y="4095750"/>
            <a:ext cx="8908776" cy="0"/>
          </a:xfrm>
          <a:prstGeom prst="line">
            <a:avLst/>
          </a:prstGeom>
          <a:ln w="1905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Graphic 59" descr="Bullseye with solid fill">
            <a:extLst>
              <a:ext uri="{FF2B5EF4-FFF2-40B4-BE49-F238E27FC236}">
                <a16:creationId xmlns:a16="http://schemas.microsoft.com/office/drawing/2014/main" id="{989FD6AB-A455-4C71-A669-E809B00DE5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1395" y="1298795"/>
            <a:ext cx="255840" cy="255840"/>
          </a:xfrm>
          <a:prstGeom prst="rect">
            <a:avLst/>
          </a:prstGeom>
        </p:spPr>
      </p:pic>
      <p:pic>
        <p:nvPicPr>
          <p:cNvPr id="61" name="Graphic 60" descr="Bullseye with solid fill">
            <a:extLst>
              <a:ext uri="{FF2B5EF4-FFF2-40B4-BE49-F238E27FC236}">
                <a16:creationId xmlns:a16="http://schemas.microsoft.com/office/drawing/2014/main" id="{206DC8B5-808A-4CE6-A37B-714D1B9DA4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1320" y="1848416"/>
            <a:ext cx="255840" cy="2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608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Text"/>
          <p:cNvSpPr txBox="1"/>
          <p:nvPr/>
        </p:nvSpPr>
        <p:spPr>
          <a:xfrm>
            <a:off x="2255520" y="1833086"/>
            <a:ext cx="4632960" cy="14773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Благодарим за внимание</a:t>
            </a:r>
            <a:r>
              <a:rPr lang="en-US" sz="4800" b="1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1846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Custom 84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9525">
          <a:noFill/>
          <a:round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Blank Design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16795</TotalTime>
  <Words>3352</Words>
  <Application>Microsoft Office PowerPoint</Application>
  <PresentationFormat>On-screen Show (16:9)</PresentationFormat>
  <Paragraphs>284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Consolas</vt:lpstr>
      <vt:lpstr>Courier New</vt:lpstr>
      <vt:lpstr>Roboto</vt:lpstr>
      <vt:lpstr>Wingdings</vt:lpstr>
      <vt:lpstr>Default Theme</vt:lpstr>
      <vt:lpstr>Blank Design</vt:lpstr>
      <vt:lpstr>PowerPoint Presentation</vt:lpstr>
      <vt:lpstr>Оглавление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Классификация продуктовых характеристик</vt:lpstr>
      <vt:lpstr>Классификация продуктовых характеристик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High Tech</dc:creator>
  <cp:lastModifiedBy>Dr</cp:lastModifiedBy>
  <cp:revision>1823</cp:revision>
  <dcterms:created xsi:type="dcterms:W3CDTF">2015-09-08T18:46:55Z</dcterms:created>
  <dcterms:modified xsi:type="dcterms:W3CDTF">2025-04-21T14:37:22Z</dcterms:modified>
</cp:coreProperties>
</file>