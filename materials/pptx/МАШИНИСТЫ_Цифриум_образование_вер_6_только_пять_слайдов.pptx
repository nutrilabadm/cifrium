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212" r:id="rId2"/>
  </p:sldMasterIdLst>
  <p:notesMasterIdLst>
    <p:notesMasterId r:id="rId11"/>
  </p:notesMasterIdLst>
  <p:handoutMasterIdLst>
    <p:handoutMasterId r:id="rId12"/>
  </p:handoutMasterIdLst>
  <p:sldIdLst>
    <p:sldId id="1644" r:id="rId3"/>
    <p:sldId id="3451" r:id="rId4"/>
    <p:sldId id="3466" r:id="rId5"/>
    <p:sldId id="3472" r:id="rId6"/>
    <p:sldId id="3476" r:id="rId7"/>
    <p:sldId id="3479" r:id="rId8"/>
    <p:sldId id="3477" r:id="rId9"/>
    <p:sldId id="2128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B359"/>
    <a:srgbClr val="3F4C55"/>
    <a:srgbClr val="5EAADE"/>
    <a:srgbClr val="38579A"/>
    <a:srgbClr val="E99BEB"/>
    <a:srgbClr val="515C63"/>
    <a:srgbClr val="31AFB5"/>
    <a:srgbClr val="223638"/>
    <a:srgbClr val="9DC75A"/>
    <a:srgbClr val="FFD2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220" autoAdjust="0"/>
  </p:normalViewPr>
  <p:slideViewPr>
    <p:cSldViewPr>
      <p:cViewPr varScale="1">
        <p:scale>
          <a:sx n="116" d="100"/>
          <a:sy n="116" d="100"/>
        </p:scale>
        <p:origin x="634" y="4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3134" y="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CDCF-B072-4CC6-B2A3-B1C4F4AE3FFA}" type="datetimeFigureOut">
              <a:rPr lang="en-US" smtClean="0"/>
              <a:pPr/>
              <a:t>4/24/2025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A0187-CA69-4ACB-9811-75164F281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81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3E9E0-D922-418E-8BFA-E41C87CB1E68}" type="datetimeFigureOut">
              <a:rPr lang="en-US" smtClean="0"/>
              <a:pPr/>
              <a:t>4/24/2025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D2F9E-D167-4ED3-83EC-AE46EA34BE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2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56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127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tIns="1548000" bIns="274320" anchor="ctr">
            <a:noAutofit/>
          </a:bodyPr>
          <a:lstStyle>
            <a:lvl1pPr marL="0" indent="0" algn="ctr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2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8927" y="1011238"/>
            <a:ext cx="4192905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10058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754748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7819" y="1011238"/>
            <a:ext cx="4192905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10058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546968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4ABE82E-78D7-4733-94E9-5735CC0D6B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15866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58042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2320636"/>
            <a:ext cx="4088996" cy="224501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2320636"/>
            <a:ext cx="4088996" cy="224501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25560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1704253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D39DD0D-E3BB-49F3-998A-2C2354F6F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67187" y="2856202"/>
            <a:ext cx="4088996" cy="1704253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87871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8368362" cy="22463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5486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13227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8368362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5486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297424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70919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20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BC5DCE-6C17-487C-A446-5447F4326B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4018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61257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70919" y="2395539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20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BC5DCE-6C17-487C-A446-5447F4326B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4018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4048299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983866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DT 0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566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840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595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587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270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86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92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F2A01-AA8A-45E1-9CB7-2287739B3997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0" y="1405"/>
            <a:ext cx="9144000" cy="514068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7CD9F-999C-4596-90FA-CDEB3A9AD15A}"/>
              </a:ext>
            </a:extLst>
          </p:cNvPr>
          <p:cNvSpPr txBox="1">
            <a:spLocks/>
          </p:cNvSpPr>
          <p:nvPr userDrawn="1"/>
        </p:nvSpPr>
        <p:spPr>
          <a:xfrm>
            <a:off x="22225" y="4717257"/>
            <a:ext cx="3889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4B9FE-21E6-4B09-A80A-6ECAFC8A0C01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2F3EC40D-0CCE-4FB4-8D63-3D5D112D4944}"/>
              </a:ext>
            </a:extLst>
          </p:cNvPr>
          <p:cNvSpPr txBox="1">
            <a:spLocks/>
          </p:cNvSpPr>
          <p:nvPr userDrawn="1"/>
        </p:nvSpPr>
        <p:spPr>
          <a:xfrm>
            <a:off x="388305" y="4785326"/>
            <a:ext cx="182721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</a:t>
            </a:r>
            <a:r>
              <a:rPr lang="ru-RU" sz="900" b="1" kern="1500" dirty="0">
                <a:solidFill>
                  <a:srgbClr val="3F4C55"/>
                </a:solidFill>
              </a:rPr>
              <a:t>Машинисты</a:t>
            </a:r>
            <a:r>
              <a:rPr lang="ru-RU" sz="900" b="0" kern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</a:t>
            </a:r>
            <a:r>
              <a:rPr lang="en-US" sz="800" dirty="0"/>
              <a:t>https://цифриум.рф</a:t>
            </a:r>
            <a:endParaRPr lang="en-US" sz="900" b="0" kern="15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7" name="Picture 56" descr="mipt-logo-273405137.png">
            <a:extLst>
              <a:ext uri="{FF2B5EF4-FFF2-40B4-BE49-F238E27FC236}">
                <a16:creationId xmlns:a16="http://schemas.microsoft.com/office/drawing/2014/main" id="{3273F81B-AD19-4057-B5E1-9853E9CF22DB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7848599" y="4701221"/>
            <a:ext cx="1273175" cy="381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5472D5-94C3-48D1-B89D-128476C053E3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088" y="4702114"/>
            <a:ext cx="1344855" cy="3810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4190" r:id="rId2"/>
    <p:sldLayoutId id="2147484215" r:id="rId3"/>
    <p:sldLayoutId id="2147484219" r:id="rId4"/>
    <p:sldLayoutId id="2147484236" r:id="rId5"/>
    <p:sldLayoutId id="2147484223" r:id="rId6"/>
    <p:sldLayoutId id="2147484220" r:id="rId7"/>
    <p:sldLayoutId id="2147484235" r:id="rId8"/>
    <p:sldLayoutId id="2147484237" r:id="rId9"/>
    <p:sldLayoutId id="2147484221" r:id="rId10"/>
    <p:sldLayoutId id="2147484222" r:id="rId11"/>
    <p:sldLayoutId id="2147484225" r:id="rId12"/>
    <p:sldLayoutId id="2147484238" r:id="rId13"/>
    <p:sldLayoutId id="2147484224" r:id="rId14"/>
    <p:sldLayoutId id="2147484211" r:id="rId15"/>
    <p:sldLayoutId id="2147484226" r:id="rId16"/>
    <p:sldLayoutId id="2147484227" r:id="rId17"/>
    <p:sldLayoutId id="2147484228" r:id="rId18"/>
    <p:sldLayoutId id="2147484229" r:id="rId19"/>
    <p:sldLayoutId id="2147484230" r:id="rId2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DA48A35-94A1-47E9-A50D-74A187991333}"/>
              </a:ext>
            </a:extLst>
          </p:cNvPr>
          <p:cNvSpPr txBox="1">
            <a:spLocks/>
          </p:cNvSpPr>
          <p:nvPr userDrawn="1"/>
        </p:nvSpPr>
        <p:spPr>
          <a:xfrm>
            <a:off x="22225" y="4717257"/>
            <a:ext cx="3889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4B9FE-21E6-4B09-A80A-6ECAFC8A0C01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159C8A9-F0D2-4FAC-AABC-086C772B4E73}"/>
              </a:ext>
            </a:extLst>
          </p:cNvPr>
          <p:cNvSpPr txBox="1">
            <a:spLocks/>
          </p:cNvSpPr>
          <p:nvPr userDrawn="1"/>
        </p:nvSpPr>
        <p:spPr>
          <a:xfrm>
            <a:off x="388305" y="4785326"/>
            <a:ext cx="182721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SlideSalad.com</a:t>
            </a:r>
          </a:p>
        </p:txBody>
      </p:sp>
    </p:spTree>
    <p:extLst>
      <p:ext uri="{BB962C8B-B14F-4D97-AF65-F5344CB8AC3E}">
        <p14:creationId xmlns:p14="http://schemas.microsoft.com/office/powerpoint/2010/main" val="400986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8E741C-A9EE-4A74-A927-BDB98F4FF324}"/>
              </a:ext>
            </a:extLst>
          </p:cNvPr>
          <p:cNvSpPr/>
          <p:nvPr/>
        </p:nvSpPr>
        <p:spPr bwMode="auto">
          <a:xfrm>
            <a:off x="398834" y="258755"/>
            <a:ext cx="8364166" cy="4313245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31866C1-E985-4998-AD08-A2431116BA89}"/>
              </a:ext>
            </a:extLst>
          </p:cNvPr>
          <p:cNvSpPr txBox="1">
            <a:spLocks/>
          </p:cNvSpPr>
          <p:nvPr/>
        </p:nvSpPr>
        <p:spPr>
          <a:xfrm>
            <a:off x="161317" y="619732"/>
            <a:ext cx="8821366" cy="9848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>
                <a:solidFill>
                  <a:schemeClr val="bg1"/>
                </a:solidFill>
              </a:rPr>
              <a:t>Цифриум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ru-RU" sz="3200" b="1" dirty="0">
                <a:solidFill>
                  <a:schemeClr val="bg1"/>
                </a:solidFill>
              </a:rPr>
              <a:t>Сервис конспектирования видеозаписей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5A98F2B-CF89-4350-9792-CFB3F3776E66}"/>
              </a:ext>
            </a:extLst>
          </p:cNvPr>
          <p:cNvSpPr txBox="1">
            <a:spLocks/>
          </p:cNvSpPr>
          <p:nvPr/>
        </p:nvSpPr>
        <p:spPr>
          <a:xfrm>
            <a:off x="685800" y="1647844"/>
            <a:ext cx="77724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1"/>
                </a:solidFill>
              </a:rPr>
              <a:t>Машинисты (Команда 2)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5B9CD528-1448-46CD-9650-F72FF5761ED2}"/>
              </a:ext>
            </a:extLst>
          </p:cNvPr>
          <p:cNvSpPr txBox="1">
            <a:spLocks/>
          </p:cNvSpPr>
          <p:nvPr/>
        </p:nvSpPr>
        <p:spPr>
          <a:xfrm>
            <a:off x="2855501" y="2183514"/>
            <a:ext cx="5654040" cy="18004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400" b="1" dirty="0">
                <a:latin typeface="+mj-lt"/>
              </a:rPr>
              <a:t>Машинисты:</a:t>
            </a:r>
            <a:endParaRPr lang="en-US" sz="1400" b="1" dirty="0">
              <a:latin typeface="+mj-lt"/>
            </a:endParaRPr>
          </a:p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400" dirty="0">
                <a:latin typeface="+mj-lt"/>
              </a:rPr>
              <a:t>Павлушкин Вячеслав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Яровой Александр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Савинский Сергей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Шарипов Булат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Григорьев Георгий, </a:t>
            </a:r>
            <a:r>
              <a:rPr lang="en-US" sz="1400" dirty="0">
                <a:latin typeface="+mj-lt"/>
              </a:rPr>
              <a:t>PhD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Филатов Сергей</a:t>
            </a:r>
            <a:br>
              <a:rPr lang="ru-RU" sz="1400" dirty="0">
                <a:latin typeface="+mj-lt"/>
              </a:rPr>
            </a:br>
            <a:endParaRPr lang="en-US" sz="1400" dirty="0">
              <a:latin typeface="+mj-lt"/>
            </a:endParaRPr>
          </a:p>
        </p:txBody>
      </p:sp>
      <p:sp>
        <p:nvSpPr>
          <p:cNvPr id="2" name="Inhaltsplatzhalter 4">
            <a:extLst>
              <a:ext uri="{FF2B5EF4-FFF2-40B4-BE49-F238E27FC236}">
                <a16:creationId xmlns:a16="http://schemas.microsoft.com/office/drawing/2014/main" id="{5AF3015A-7277-4100-860E-EAB3587D382F}"/>
              </a:ext>
            </a:extLst>
          </p:cNvPr>
          <p:cNvSpPr txBox="1">
            <a:spLocks/>
          </p:cNvSpPr>
          <p:nvPr/>
        </p:nvSpPr>
        <p:spPr>
          <a:xfrm>
            <a:off x="3107718" y="4156917"/>
            <a:ext cx="2946398" cy="18466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200" i="1" dirty="0">
                <a:latin typeface="+mj-lt"/>
              </a:rPr>
              <a:t>Дата</a:t>
            </a:r>
            <a:r>
              <a:rPr lang="en-US" sz="1200" i="1" dirty="0">
                <a:latin typeface="+mj-lt"/>
              </a:rPr>
              <a:t>: </a:t>
            </a:r>
            <a:r>
              <a:rPr lang="ru-RU" sz="1200" i="1" dirty="0">
                <a:latin typeface="+mj-lt"/>
              </a:rPr>
              <a:t>29</a:t>
            </a:r>
            <a:r>
              <a:rPr lang="en-US" sz="1200" i="1" dirty="0">
                <a:latin typeface="+mj-lt"/>
              </a:rPr>
              <a:t>/</a:t>
            </a:r>
            <a:r>
              <a:rPr lang="ru-RU" sz="1200" i="1" dirty="0">
                <a:latin typeface="+mj-lt"/>
              </a:rPr>
              <a:t>04</a:t>
            </a:r>
            <a:r>
              <a:rPr lang="en-US" sz="1200" i="1" dirty="0">
                <a:latin typeface="+mj-lt"/>
              </a:rPr>
              <a:t>/</a:t>
            </a:r>
            <a:r>
              <a:rPr lang="ru-RU" sz="1200" i="1" dirty="0">
                <a:latin typeface="+mj-lt"/>
              </a:rPr>
              <a:t>2025</a:t>
            </a:r>
            <a:endParaRPr lang="en-US" sz="12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306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4C7C-6559-4D57-895E-B2312324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4DD48-8B06-4B0B-84A5-9C6DBF9D8352}"/>
              </a:ext>
            </a:extLst>
          </p:cNvPr>
          <p:cNvSpPr/>
          <p:nvPr/>
        </p:nvSpPr>
        <p:spPr bwMode="auto">
          <a:xfrm>
            <a:off x="762000" y="20864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требований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644953-8058-411D-852A-892515A361F3}"/>
              </a:ext>
            </a:extLst>
          </p:cNvPr>
          <p:cNvSpPr/>
          <p:nvPr/>
        </p:nvSpPr>
        <p:spPr bwMode="auto">
          <a:xfrm>
            <a:off x="65724" y="20864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20669-86BB-484E-9E90-9E7D5FD9DB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333"/>
          <a:stretch/>
        </p:blipFill>
        <p:spPr>
          <a:xfrm>
            <a:off x="155210" y="657595"/>
            <a:ext cx="4267200" cy="3801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2831C-CF30-4792-9A8E-0CBD99BBDA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333"/>
          <a:stretch/>
        </p:blipFill>
        <p:spPr>
          <a:xfrm>
            <a:off x="4618290" y="680953"/>
            <a:ext cx="4350218" cy="375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6729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Код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4218EF-9A2C-41EE-956D-E86BC7117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1551"/>
              </p:ext>
            </p:extLst>
          </p:nvPr>
        </p:nvGraphicFramePr>
        <p:xfrm>
          <a:off x="119561" y="594051"/>
          <a:ext cx="4572001" cy="4191508"/>
        </p:xfrm>
        <a:graphic>
          <a:graphicData uri="http://schemas.openxmlformats.org/drawingml/2006/table">
            <a:tbl>
              <a:tblPr/>
              <a:tblGrid>
                <a:gridCol w="4572001">
                  <a:extLst>
                    <a:ext uri="{9D8B030D-6E8A-4147-A177-3AD203B41FA5}">
                      <a16:colId xmlns:a16="http://schemas.microsoft.com/office/drawing/2014/main" val="3756415931"/>
                    </a:ext>
                  </a:extLst>
                </a:gridCol>
              </a:tblGrid>
              <a:tr h="326231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os.environ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"LLAMA_LOG_LEVEL"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]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"ERROR"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sys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contextlib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redirect_stdout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redirect_stderr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llama_cpp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Llama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json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tm()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"model/mistral-7b-instruct-v0.1.Q3_K_L.gguf"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"model/mistral-7b-instruct-v0.1.Q8_0.gguf"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Путь к 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gguf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модели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open(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os.devnull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"w"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redirect_stdout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redirect_stderr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llm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Llama(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model_path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=MODEL,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n_ctx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800" b="0" i="0" u="none" strike="noStrike" dirty="0">
                          <a:solidFill>
                            <a:srgbClr val="8A7B52"/>
                          </a:solidFill>
                          <a:effectLst/>
                          <a:latin typeface="Consolas" panose="020B0609020204030204" pitchFamily="49" charset="0"/>
                        </a:rPr>
                        <a:t>4096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  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Загрузка транскрипта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"transcript.txt"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open(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"r"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encoding=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"utf-8"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f: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transcript =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f.read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tm(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f'01. 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(transcript)}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with open("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template.json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", "r", encoding="utf-8") as f: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    template = 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json.load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(f)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Шаблон (можно вынести в 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JSON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для кастомизации)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 = {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"title"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Общественное движение в России во второй четверти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XIX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века"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sections"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[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План занятия"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"Основные концепции"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"Ключевые персоны"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"Сравнение концепций"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"Даты ключевых событий"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],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style"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Сделай краткий конспект по учебному стилю, как в ЦИФРИУМ или </a:t>
                      </a:r>
                      <a:r>
                        <a:rPr lang="ru-RU" sz="800" b="0" i="0" u="none" strike="noStrike" dirty="0" err="1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Лекториум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. Добавь </a:t>
                      </a:r>
                      <a:r>
                        <a:rPr lang="ru-RU" sz="800" b="0" i="0" u="none" strike="noStrike" dirty="0" err="1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таймкоды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, ключевые понятия и списки."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en-US" sz="900" dirty="0">
                        <a:effectLst/>
                      </a:endParaRPr>
                    </a:p>
                  </a:txBody>
                  <a:tcPr marL="15494" marR="15494" marT="15494" marB="1549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067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4D51A59-3194-4E9C-B250-6FB18D95B44D}"/>
              </a:ext>
            </a:extLst>
          </p:cNvPr>
          <p:cNvSpPr txBox="1"/>
          <p:nvPr/>
        </p:nvSpPr>
        <p:spPr>
          <a:xfrm>
            <a:off x="4691562" y="590114"/>
            <a:ext cx="4572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Формируем </a:t>
            </a:r>
            <a:r>
              <a:rPr lang="en-US" sz="1000" b="0" i="0" u="none" strike="noStrike" dirty="0">
                <a:effectLst/>
                <a:latin typeface="Consolas" panose="020B0609020204030204" pitchFamily="49" charset="0"/>
              </a:rPr>
              <a:t>prompt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f"""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Ты -- помощник-</a:t>
            </a:r>
            <a:r>
              <a:rPr lang="ru-RU" sz="1000" b="0" i="0" u="none" strike="noStrike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конспектолог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. Преобразуй данный текст в структурированный учебный конспект.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Исходный текст: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\"\"\"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transcript[: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4096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\"\"\"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Структура конспекта: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Название: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"title"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Разделы: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join(template[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"sections"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])}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Стиль: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"style"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Ответ начни сразу с заголовка и структурированного текста: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Генерация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output =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(prompt,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max_tokens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2048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temperature=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stop=[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"#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Конец"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Извлекаем результат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result = output[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"choices"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effectLst/>
                <a:latin typeface="Consolas" panose="020B0609020204030204" pitchFamily="49" charset="0"/>
              </a:rPr>
              <a:t># </a:t>
            </a: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Сохраняем результат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model =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MODEL.replace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"_"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open(</a:t>
            </a:r>
            <a:r>
              <a:rPr lang="en-US" sz="1000" b="0" i="0" u="none" strike="noStrike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f"conspect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{_model}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.txt"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encoding=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f: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f.write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result.strip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"✅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Готово! Конспект сохранён в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conspect.txt"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tm(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'&gt;&gt;&gt;'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8583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186E00-F770-4E2F-99AE-CD1BB56BE0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21"/>
          <a:stretch/>
        </p:blipFill>
        <p:spPr>
          <a:xfrm>
            <a:off x="0" y="4324350"/>
            <a:ext cx="9144000" cy="819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449580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Сравнение «сравнений»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6F5CDF2-81D1-4406-9938-D6C1D7ADAC0E}"/>
              </a:ext>
            </a:extLst>
          </p:cNvPr>
          <p:cNvSpPr/>
          <p:nvPr/>
        </p:nvSpPr>
        <p:spPr>
          <a:xfrm>
            <a:off x="6861629" y="4333377"/>
            <a:ext cx="2202982" cy="283448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Local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:</a:t>
            </a:r>
            <a:r>
              <a:rPr lang="ru-RU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claude-3-7</a:t>
            </a:r>
            <a:endParaRPr 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E15BF7-77FF-474D-BAF0-0EF47A7A94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123"/>
          <a:stretch/>
        </p:blipFill>
        <p:spPr>
          <a:xfrm>
            <a:off x="81555" y="3257549"/>
            <a:ext cx="8973077" cy="104514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3E8F670-D80C-4968-8189-15FB8B6A0973}"/>
              </a:ext>
            </a:extLst>
          </p:cNvPr>
          <p:cNvGrpSpPr/>
          <p:nvPr/>
        </p:nvGrpSpPr>
        <p:grpSpPr>
          <a:xfrm>
            <a:off x="6861629" y="2599982"/>
            <a:ext cx="2202982" cy="965730"/>
            <a:chOff x="5842268" y="3695924"/>
            <a:chExt cx="3009792" cy="221173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3A949516-8926-4276-9AA4-D623A5F24B7A}"/>
                </a:ext>
              </a:extLst>
            </p:cNvPr>
            <p:cNvSpPr/>
            <p:nvPr/>
          </p:nvSpPr>
          <p:spPr>
            <a:xfrm>
              <a:off x="5842268" y="5264705"/>
              <a:ext cx="3009792" cy="642955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API:</a:t>
              </a:r>
              <a:r>
                <a:rPr lang="ru-RU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 </a:t>
              </a:r>
              <a:r>
                <a:rPr lang="en-US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claude-3-7</a:t>
              </a:r>
              <a:endParaRPr lang="en-US" sz="10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2F1FFC3-4AE7-4DF1-8263-7CA3A7509FFA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solidFill>
              <a:schemeClr val="bg1">
                <a:alpha val="3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D87D6572-71A6-4E0A-ADD8-2CC8C8E245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029"/>
          <a:stretch/>
        </p:blipFill>
        <p:spPr>
          <a:xfrm>
            <a:off x="68855" y="2571750"/>
            <a:ext cx="9049604" cy="59011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0D387E-BE8B-4BA3-A956-F6F12C4B944F}"/>
              </a:ext>
            </a:extLst>
          </p:cNvPr>
          <p:cNvGrpSpPr/>
          <p:nvPr/>
        </p:nvGrpSpPr>
        <p:grpSpPr>
          <a:xfrm>
            <a:off x="6909127" y="2529617"/>
            <a:ext cx="2202982" cy="294912"/>
            <a:chOff x="5746390" y="3629221"/>
            <a:chExt cx="3009792" cy="808807"/>
          </a:xfrm>
          <a:solidFill>
            <a:schemeClr val="accent4"/>
          </a:solidFill>
        </p:grpSpPr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57C23F80-52E8-45ED-8255-1C881BF34F43}"/>
                </a:ext>
              </a:extLst>
            </p:cNvPr>
            <p:cNvSpPr/>
            <p:nvPr/>
          </p:nvSpPr>
          <p:spPr>
            <a:xfrm>
              <a:off x="5746390" y="3629221"/>
              <a:ext cx="3009792" cy="808807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bg1"/>
                  </a:solidFill>
                  <a:latin typeface="+mj-lt"/>
                </a:rPr>
                <a:t>g</a:t>
              </a:r>
              <a:r>
                <a:rPr lang="en-US" sz="20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pt-4</a:t>
              </a:r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80C6638B-85F4-49A7-8AD2-1F783B368565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390FDD96-1A2D-4F69-A6AF-9F832CDEA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8" y="1495865"/>
            <a:ext cx="9096802" cy="98921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8D93E-DDB1-4310-A38B-97769D738AC2}"/>
              </a:ext>
            </a:extLst>
          </p:cNvPr>
          <p:cNvGrpSpPr/>
          <p:nvPr/>
        </p:nvGrpSpPr>
        <p:grpSpPr>
          <a:xfrm>
            <a:off x="6832600" y="1504660"/>
            <a:ext cx="2202982" cy="294912"/>
            <a:chOff x="5746390" y="3629221"/>
            <a:chExt cx="3009792" cy="808807"/>
          </a:xfrm>
          <a:solidFill>
            <a:schemeClr val="accent3"/>
          </a:solidFill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B6EA29C0-EF17-40A1-8424-456886882038}"/>
                </a:ext>
              </a:extLst>
            </p:cNvPr>
            <p:cNvSpPr/>
            <p:nvPr/>
          </p:nvSpPr>
          <p:spPr>
            <a:xfrm>
              <a:off x="5746390" y="3629221"/>
              <a:ext cx="3009792" cy="808807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bg1"/>
                  </a:solidFill>
                  <a:latin typeface="+mj-lt"/>
                </a:rPr>
                <a:t>gpt-3.5-turbo</a:t>
              </a:r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D2B761D6-247F-4497-AFBD-055999649AA0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796C4768-04F6-4327-B0F6-35C3087002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0" y="896198"/>
            <a:ext cx="9018809" cy="583377"/>
          </a:xfrm>
          <a:prstGeom prst="rect">
            <a:avLst/>
          </a:prstGeom>
        </p:spPr>
      </p:pic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395AE03C-72CD-4747-BA18-73E275E573AB}"/>
              </a:ext>
            </a:extLst>
          </p:cNvPr>
          <p:cNvSpPr/>
          <p:nvPr/>
        </p:nvSpPr>
        <p:spPr>
          <a:xfrm>
            <a:off x="6861629" y="610304"/>
            <a:ext cx="2202982" cy="29491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llama-3-8b</a:t>
            </a:r>
            <a:endParaRPr 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2AF9772-1065-4299-A85B-CA14CEA64E5C}"/>
              </a:ext>
            </a:extLst>
          </p:cNvPr>
          <p:cNvCxnSpPr/>
          <p:nvPr/>
        </p:nvCxnSpPr>
        <p:spPr>
          <a:xfrm>
            <a:off x="81555" y="4302690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6E8503-2AA6-4A4A-BD58-D59FE3D12037}"/>
              </a:ext>
            </a:extLst>
          </p:cNvPr>
          <p:cNvCxnSpPr/>
          <p:nvPr/>
        </p:nvCxnSpPr>
        <p:spPr>
          <a:xfrm>
            <a:off x="113705" y="3254939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3902CA-56D8-48C4-9821-8C8E2E208F60}"/>
              </a:ext>
            </a:extLst>
          </p:cNvPr>
          <p:cNvCxnSpPr/>
          <p:nvPr/>
        </p:nvCxnSpPr>
        <p:spPr>
          <a:xfrm>
            <a:off x="139269" y="2520570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90AB389-D512-420B-BCDA-89351889A6AC}"/>
              </a:ext>
            </a:extLst>
          </p:cNvPr>
          <p:cNvCxnSpPr/>
          <p:nvPr/>
        </p:nvCxnSpPr>
        <p:spPr>
          <a:xfrm>
            <a:off x="126806" y="1479575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1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13587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Аналитика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XI.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5384F6-6C29-4E58-BC29-B22AA7C8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3279"/>
            <a:ext cx="3048000" cy="570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EBC4E3-4953-425B-934A-530FA6B12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48" y="853801"/>
            <a:ext cx="4114800" cy="13395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0779D1-E1E4-40E7-B9FD-C1FB0B3296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73" t="20326" r="11942" b="23528"/>
          <a:stretch/>
        </p:blipFill>
        <p:spPr>
          <a:xfrm>
            <a:off x="381000" y="683167"/>
            <a:ext cx="2971432" cy="1818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E302F6-981A-4BD2-A945-8B457A063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425446"/>
            <a:ext cx="4114800" cy="12319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44FF57-8332-4BD5-8233-668E82B92C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013" t="23173" r="8999" b="27438"/>
          <a:stretch/>
        </p:blipFill>
        <p:spPr>
          <a:xfrm>
            <a:off x="381000" y="2278364"/>
            <a:ext cx="2840020" cy="1381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93BD65-CF13-4001-862F-DA948EC76E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650" t="28150" r="8875" b="21858"/>
          <a:stretch/>
        </p:blipFill>
        <p:spPr>
          <a:xfrm>
            <a:off x="381001" y="3808299"/>
            <a:ext cx="2895600" cy="1798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1B07617-6FA7-4375-B321-BBB5841ED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968647"/>
            <a:ext cx="4114800" cy="11748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7BA43D3-EC4B-4BEA-A38A-B41960DBEAA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803" t="29300" r="11681" b="20497"/>
          <a:stretch/>
        </p:blipFill>
        <p:spPr>
          <a:xfrm>
            <a:off x="4971091" y="657625"/>
            <a:ext cx="2877509" cy="15238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AD01466-6208-4AE7-9775-5F3256F3F1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0" y="811910"/>
            <a:ext cx="3876227" cy="13639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C2220B6-C5BA-4683-BC3D-65E0511167E1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3201" t="25554" r="10860" b="16433"/>
          <a:stretch/>
        </p:blipFill>
        <p:spPr>
          <a:xfrm>
            <a:off x="5016606" y="2272704"/>
            <a:ext cx="2840019" cy="17164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55428EB-6504-42B4-B377-FAE79E080E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0" y="2444351"/>
            <a:ext cx="3876227" cy="122943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D010D20-3A18-41B0-B9FF-645739E7D65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0798" t="24651" r="9767" b="16098"/>
          <a:stretch/>
        </p:blipFill>
        <p:spPr>
          <a:xfrm>
            <a:off x="4971091" y="3763455"/>
            <a:ext cx="2697658" cy="17989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8BE4D18-BBC5-41AC-BFC1-E188C7BB09D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0" y="3942272"/>
            <a:ext cx="3876227" cy="120470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A2E8B87-D988-42D2-9DF2-F696B1566828}"/>
              </a:ext>
            </a:extLst>
          </p:cNvPr>
          <p:cNvSpPr/>
          <p:nvPr/>
        </p:nvSpPr>
        <p:spPr bwMode="auto">
          <a:xfrm>
            <a:off x="380999" y="657625"/>
            <a:ext cx="4091049" cy="1535692"/>
          </a:xfrm>
          <a:prstGeom prst="rect">
            <a:avLst/>
          </a:prstGeom>
          <a:noFill/>
          <a:ln w="76200">
            <a:solidFill>
              <a:srgbClr val="72B359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B1FF90-5589-40C4-8EC6-CDF8BA1EDF69}"/>
              </a:ext>
            </a:extLst>
          </p:cNvPr>
          <p:cNvSpPr/>
          <p:nvPr/>
        </p:nvSpPr>
        <p:spPr bwMode="auto">
          <a:xfrm>
            <a:off x="4971091" y="3727016"/>
            <a:ext cx="3868110" cy="136395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13587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Аналитика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XI.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D010D20-3A18-41B0-B9FF-645739E7D6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98" t="24651" r="9767" b="16098"/>
          <a:stretch/>
        </p:blipFill>
        <p:spPr>
          <a:xfrm>
            <a:off x="4971091" y="3763455"/>
            <a:ext cx="2697658" cy="17989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8BE4D18-BBC5-41AC-BFC1-E188C7BB0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942272"/>
            <a:ext cx="3876227" cy="1204705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0B1FF90-5589-40C4-8EC6-CDF8BA1EDF69}"/>
              </a:ext>
            </a:extLst>
          </p:cNvPr>
          <p:cNvSpPr/>
          <p:nvPr/>
        </p:nvSpPr>
        <p:spPr bwMode="auto">
          <a:xfrm>
            <a:off x="4971091" y="3727016"/>
            <a:ext cx="3868110" cy="1359334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42863B-042B-4F81-9475-9C743A14C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6750"/>
            <a:ext cx="9144000" cy="26526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7765A25-AAD0-4658-8139-C50D021C04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254"/>
          <a:stretch/>
        </p:blipFill>
        <p:spPr>
          <a:xfrm>
            <a:off x="4533935" y="0"/>
            <a:ext cx="4607659" cy="6380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AFAB7F-45EA-4518-8151-0A8553934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703" y="3390214"/>
            <a:ext cx="2408697" cy="5818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7CAD6CF-DB2D-40A8-954D-9F329B5A19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972090"/>
            <a:ext cx="2395165" cy="105549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2E3782B-0C1A-4F6B-9391-6E81D31BD9AF}"/>
              </a:ext>
            </a:extLst>
          </p:cNvPr>
          <p:cNvSpPr/>
          <p:nvPr/>
        </p:nvSpPr>
        <p:spPr bwMode="auto">
          <a:xfrm>
            <a:off x="381000" y="3333750"/>
            <a:ext cx="2395165" cy="175260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8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199" y="116467"/>
            <a:ext cx="8239915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Проблема предлогов, окончаний, суффиксов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и приставок.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6F5CDF2-81D1-4406-9938-D6C1D7ADAC0E}"/>
              </a:ext>
            </a:extLst>
          </p:cNvPr>
          <p:cNvSpPr/>
          <p:nvPr/>
        </p:nvSpPr>
        <p:spPr>
          <a:xfrm>
            <a:off x="6875133" y="3010748"/>
            <a:ext cx="2202982" cy="283448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large-v3</a:t>
            </a:r>
            <a:endParaRPr 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XII.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E8F670-D80C-4968-8189-15FB8B6A0973}"/>
              </a:ext>
            </a:extLst>
          </p:cNvPr>
          <p:cNvGrpSpPr/>
          <p:nvPr/>
        </p:nvGrpSpPr>
        <p:grpSpPr>
          <a:xfrm>
            <a:off x="6859700" y="1952570"/>
            <a:ext cx="2202982" cy="773485"/>
            <a:chOff x="5859401" y="3695924"/>
            <a:chExt cx="3009792" cy="1771453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3A949516-8926-4276-9AA4-D623A5F24B7A}"/>
                </a:ext>
              </a:extLst>
            </p:cNvPr>
            <p:cNvSpPr/>
            <p:nvPr/>
          </p:nvSpPr>
          <p:spPr>
            <a:xfrm>
              <a:off x="5859401" y="4824422"/>
              <a:ext cx="3009792" cy="642955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bg1"/>
                  </a:solidFill>
                  <a:latin typeface="+mj-lt"/>
                </a:rPr>
                <a:t>large-v2</a:t>
              </a: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2F1FFC3-4AE7-4DF1-8263-7CA3A7509FFA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solidFill>
              <a:schemeClr val="bg1">
                <a:alpha val="3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</p:grp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57C23F80-52E8-45ED-8255-1C881BF34F43}"/>
              </a:ext>
            </a:extLst>
          </p:cNvPr>
          <p:cNvSpPr/>
          <p:nvPr/>
        </p:nvSpPr>
        <p:spPr>
          <a:xfrm>
            <a:off x="6847160" y="1837973"/>
            <a:ext cx="2202982" cy="294912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large-v1</a:t>
            </a:r>
            <a:endParaRPr lang="en-US" sz="105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8D93E-DDB1-4310-A38B-97769D738AC2}"/>
              </a:ext>
            </a:extLst>
          </p:cNvPr>
          <p:cNvGrpSpPr/>
          <p:nvPr/>
        </p:nvGrpSpPr>
        <p:grpSpPr>
          <a:xfrm>
            <a:off x="6819499" y="1284356"/>
            <a:ext cx="2202982" cy="335881"/>
            <a:chOff x="5746390" y="3450169"/>
            <a:chExt cx="3009792" cy="921167"/>
          </a:xfrm>
          <a:solidFill>
            <a:schemeClr val="accent3"/>
          </a:solidFill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B6EA29C0-EF17-40A1-8424-456886882038}"/>
                </a:ext>
              </a:extLst>
            </p:cNvPr>
            <p:cNvSpPr/>
            <p:nvPr/>
          </p:nvSpPr>
          <p:spPr>
            <a:xfrm>
              <a:off x="5746390" y="3450169"/>
              <a:ext cx="3009792" cy="808807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bg1"/>
                  </a:solidFill>
                  <a:latin typeface="+mj-lt"/>
                </a:rPr>
                <a:t>large</a:t>
              </a:r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D2B761D6-247F-4497-AFBD-055999649AA0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395AE03C-72CD-4747-BA18-73E275E573AB}"/>
              </a:ext>
            </a:extLst>
          </p:cNvPr>
          <p:cNvSpPr/>
          <p:nvPr/>
        </p:nvSpPr>
        <p:spPr>
          <a:xfrm>
            <a:off x="6859700" y="732125"/>
            <a:ext cx="2202982" cy="29491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</a:rPr>
              <a:t>base</a:t>
            </a:r>
            <a:endParaRPr 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2AF9772-1065-4299-A85B-CA14CEA64E5C}"/>
              </a:ext>
            </a:extLst>
          </p:cNvPr>
          <p:cNvCxnSpPr/>
          <p:nvPr/>
        </p:nvCxnSpPr>
        <p:spPr>
          <a:xfrm>
            <a:off x="88685" y="2945645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6E8503-2AA6-4A4A-BD58-D59FE3D12037}"/>
              </a:ext>
            </a:extLst>
          </p:cNvPr>
          <p:cNvCxnSpPr/>
          <p:nvPr/>
        </p:nvCxnSpPr>
        <p:spPr>
          <a:xfrm>
            <a:off x="52154" y="2390119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3902CA-56D8-48C4-9821-8C8E2E208F60}"/>
              </a:ext>
            </a:extLst>
          </p:cNvPr>
          <p:cNvCxnSpPr/>
          <p:nvPr/>
        </p:nvCxnSpPr>
        <p:spPr>
          <a:xfrm>
            <a:off x="113705" y="1790422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90AB389-D512-420B-BCDA-89351889A6AC}"/>
              </a:ext>
            </a:extLst>
          </p:cNvPr>
          <p:cNvCxnSpPr/>
          <p:nvPr/>
        </p:nvCxnSpPr>
        <p:spPr>
          <a:xfrm>
            <a:off x="88685" y="1231791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1F7097D-0000-4D34-9E49-B5A101983C7B}"/>
              </a:ext>
            </a:extLst>
          </p:cNvPr>
          <p:cNvSpPr txBox="1"/>
          <p:nvPr/>
        </p:nvSpPr>
        <p:spPr>
          <a:xfrm>
            <a:off x="-19050" y="963209"/>
            <a:ext cx="9601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>
                <a:highlight>
                  <a:srgbClr val="FF0000"/>
                </a:highlight>
              </a:rPr>
              <a:t>Челено</a:t>
            </a:r>
            <a:r>
              <a:rPr lang="en-US" sz="1250" dirty="0"/>
              <a:t> </a:t>
            </a:r>
            <a:r>
              <a:rPr lang="ru-RU" sz="1250" dirty="0" err="1">
                <a:highlight>
                  <a:srgbClr val="FF0000"/>
                </a:highlight>
              </a:rPr>
              <a:t>теоритеческого</a:t>
            </a:r>
            <a:r>
              <a:rPr lang="ru-RU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К</a:t>
            </a:r>
            <a:r>
              <a:rPr lang="en-US" sz="1250" dirty="0" err="1"/>
              <a:t>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единственноверным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при</a:t>
            </a:r>
            <a:r>
              <a:rPr lang="en-US" sz="1250" dirty="0">
                <a:highlight>
                  <a:srgbClr val="FF0000"/>
                </a:highlight>
              </a:rPr>
              <a:t> </a:t>
            </a:r>
            <a:r>
              <a:rPr lang="en-US" sz="1250" dirty="0" err="1">
                <a:highlight>
                  <a:srgbClr val="FF0000"/>
                </a:highlight>
              </a:rPr>
              <a:t>образовании</a:t>
            </a:r>
            <a:r>
              <a:rPr lang="en-US" sz="1250" dirty="0">
                <a:highlight>
                  <a:srgbClr val="FF0000"/>
                </a:highlight>
              </a:rPr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при</a:t>
            </a:r>
            <a:r>
              <a:rPr lang="en-US" sz="1250" dirty="0" err="1"/>
              <a:t>волюцию</a:t>
            </a:r>
            <a:r>
              <a:rPr lang="en-US" sz="125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BF280D-35A0-411C-8138-6851726C8DC1}"/>
              </a:ext>
            </a:extLst>
          </p:cNvPr>
          <p:cNvSpPr txBox="1"/>
          <p:nvPr/>
        </p:nvSpPr>
        <p:spPr>
          <a:xfrm>
            <a:off x="-89331" y="1498034"/>
            <a:ext cx="9601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en-US" sz="1250" dirty="0"/>
              <a:t> </a:t>
            </a:r>
            <a:r>
              <a:rPr lang="ru-RU" sz="1250" dirty="0"/>
              <a:t>террористического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единственно</a:t>
            </a:r>
            <a:r>
              <a:rPr lang="en-US" sz="1250" dirty="0"/>
              <a:t> </a:t>
            </a:r>
            <a:r>
              <a:rPr lang="en-US" sz="1250" dirty="0" err="1"/>
              <a:t>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 err="1"/>
              <a:t>революцию</a:t>
            </a:r>
            <a:r>
              <a:rPr lang="en-US" sz="1250" dirty="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C653E6-794E-45B8-95DD-F81BF2D88561}"/>
              </a:ext>
            </a:extLst>
          </p:cNvPr>
          <p:cNvSpPr txBox="1"/>
          <p:nvPr/>
        </p:nvSpPr>
        <p:spPr>
          <a:xfrm>
            <a:off x="-70040" y="2107612"/>
            <a:ext cx="94488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ru-RU" sz="1250" dirty="0"/>
              <a:t> террористического</a:t>
            </a:r>
            <a:r>
              <a:rPr lang="en-US" sz="1250" dirty="0"/>
              <a:t>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единственно</a:t>
            </a:r>
            <a:r>
              <a:rPr lang="en-US" sz="1250" dirty="0"/>
              <a:t> </a:t>
            </a:r>
            <a:r>
              <a:rPr lang="en-US" sz="1250" dirty="0" err="1"/>
              <a:t>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 err="1"/>
              <a:t>революцию</a:t>
            </a:r>
            <a:r>
              <a:rPr lang="en-US" sz="1250" dirty="0"/>
              <a:t>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8122B3-FF43-488B-99C1-5E5613E39048}"/>
              </a:ext>
            </a:extLst>
          </p:cNvPr>
          <p:cNvSpPr txBox="1"/>
          <p:nvPr/>
        </p:nvSpPr>
        <p:spPr>
          <a:xfrm>
            <a:off x="-70040" y="2660952"/>
            <a:ext cx="92650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en-US" sz="1250" dirty="0"/>
              <a:t> </a:t>
            </a:r>
            <a:r>
              <a:rPr lang="ru-RU" sz="1250" dirty="0"/>
              <a:t>террористического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единственно</a:t>
            </a:r>
            <a:r>
              <a:rPr lang="en-US" sz="1250" dirty="0"/>
              <a:t> </a:t>
            </a:r>
            <a:r>
              <a:rPr lang="en-US" sz="1250" dirty="0" err="1"/>
              <a:t>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>
                <a:highlight>
                  <a:srgbClr val="FF0000"/>
                </a:highlight>
              </a:rPr>
              <a:t>в</a:t>
            </a:r>
            <a:r>
              <a:rPr lang="en-US" sz="1250" dirty="0"/>
              <a:t> </a:t>
            </a:r>
            <a:r>
              <a:rPr lang="en-US" sz="1250" dirty="0" err="1"/>
              <a:t>революцию</a:t>
            </a:r>
            <a:r>
              <a:rPr lang="en-US" sz="1250" dirty="0"/>
              <a:t>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709D7A-5D49-4DB6-BBDD-F4564861910A}"/>
              </a:ext>
            </a:extLst>
          </p:cNvPr>
          <p:cNvSpPr txBox="1"/>
          <p:nvPr/>
        </p:nvSpPr>
        <p:spPr>
          <a:xfrm>
            <a:off x="-49784" y="3235018"/>
            <a:ext cx="935107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en-US" sz="1250" dirty="0"/>
              <a:t> </a:t>
            </a:r>
            <a:r>
              <a:rPr lang="ru-RU" sz="1250" dirty="0"/>
              <a:t>террористического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единственно</a:t>
            </a:r>
            <a:r>
              <a:rPr lang="en-US" sz="1250" dirty="0"/>
              <a:t> </a:t>
            </a:r>
            <a:r>
              <a:rPr lang="en-US" sz="1250" dirty="0" err="1"/>
              <a:t>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>
                <a:highlight>
                  <a:srgbClr val="FF0000"/>
                </a:highlight>
              </a:rPr>
              <a:t>в</a:t>
            </a:r>
            <a:r>
              <a:rPr lang="en-US" sz="1250" dirty="0"/>
              <a:t> </a:t>
            </a:r>
            <a:r>
              <a:rPr lang="en-US" sz="1250" dirty="0" err="1"/>
              <a:t>революцию</a:t>
            </a:r>
            <a:r>
              <a:rPr lang="en-US" sz="1250" dirty="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4D57FC-5AF7-482C-B71E-5C7BF7ECA11F}"/>
              </a:ext>
            </a:extLst>
          </p:cNvPr>
          <p:cNvSpPr txBox="1"/>
          <p:nvPr/>
        </p:nvSpPr>
        <p:spPr>
          <a:xfrm>
            <a:off x="-40951" y="3819243"/>
            <a:ext cx="9390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highlight>
                  <a:srgbClr val="FF0000"/>
                </a:highlight>
              </a:rPr>
              <a:t>Челены</a:t>
            </a:r>
            <a:r>
              <a:rPr lang="ru-RU" sz="1200" dirty="0"/>
              <a:t> террористического</a:t>
            </a:r>
            <a:r>
              <a:rPr lang="en-US" sz="1200" dirty="0"/>
              <a:t> </a:t>
            </a:r>
            <a:r>
              <a:rPr lang="en-US" sz="1200" dirty="0" err="1"/>
              <a:t>кружка</a:t>
            </a:r>
            <a:r>
              <a:rPr lang="en-US" sz="1200" dirty="0"/>
              <a:t> </a:t>
            </a:r>
            <a:r>
              <a:rPr lang="en-US" sz="1200" dirty="0" err="1"/>
              <a:t>считали</a:t>
            </a:r>
            <a:r>
              <a:rPr lang="en-US" sz="1200" dirty="0"/>
              <a:t> </a:t>
            </a:r>
            <a:r>
              <a:rPr lang="en-US" sz="1200" dirty="0" err="1"/>
              <a:t>единственн</a:t>
            </a:r>
            <a:r>
              <a:rPr lang="en-US" sz="1200" dirty="0" err="1">
                <a:highlight>
                  <a:srgbClr val="FF0000"/>
                </a:highlight>
              </a:rPr>
              <a:t>ым</a:t>
            </a:r>
            <a:r>
              <a:rPr lang="en-US" sz="1200" dirty="0"/>
              <a:t> </a:t>
            </a:r>
            <a:r>
              <a:rPr lang="en-US" sz="1200" dirty="0" err="1"/>
              <a:t>верным</a:t>
            </a:r>
            <a:r>
              <a:rPr lang="en-US" sz="1200" dirty="0"/>
              <a:t> </a:t>
            </a:r>
            <a:r>
              <a:rPr lang="en-US" sz="1200" dirty="0" err="1"/>
              <a:t>решением</a:t>
            </a:r>
            <a:r>
              <a:rPr lang="en-US" sz="1200" dirty="0"/>
              <a:t> </a:t>
            </a:r>
            <a:r>
              <a:rPr lang="en-US" sz="1200" dirty="0" err="1"/>
              <a:t>преобразования</a:t>
            </a:r>
            <a:r>
              <a:rPr lang="en-US" sz="1200" dirty="0"/>
              <a:t> </a:t>
            </a:r>
            <a:r>
              <a:rPr lang="en-US" sz="1200" dirty="0" err="1"/>
              <a:t>государства</a:t>
            </a:r>
            <a:r>
              <a:rPr lang="en-US" sz="1200" dirty="0"/>
              <a:t> </a:t>
            </a:r>
            <a:r>
              <a:rPr lang="en-US" sz="1200" dirty="0">
                <a:highlight>
                  <a:srgbClr val="FF0000"/>
                </a:highlight>
              </a:rPr>
              <a:t>в</a:t>
            </a:r>
            <a:r>
              <a:rPr lang="en-US" sz="1200" dirty="0"/>
              <a:t> </a:t>
            </a:r>
            <a:r>
              <a:rPr lang="en-US" sz="1200" dirty="0" err="1"/>
              <a:t>революцию</a:t>
            </a:r>
            <a:r>
              <a:rPr lang="en-US" sz="1200" dirty="0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DB651F-5A89-4608-BC11-B0E28E76C9E3}"/>
              </a:ext>
            </a:extLst>
          </p:cNvPr>
          <p:cNvSpPr txBox="1"/>
          <p:nvPr/>
        </p:nvSpPr>
        <p:spPr>
          <a:xfrm>
            <a:off x="-53059" y="4373370"/>
            <a:ext cx="935107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ru-RU" sz="1250" dirty="0"/>
              <a:t> террористического</a:t>
            </a:r>
            <a:r>
              <a:rPr lang="en-US" sz="1250" dirty="0"/>
              <a:t>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</a:t>
            </a:r>
            <a:r>
              <a:rPr lang="en-US" sz="1250" dirty="0" err="1">
                <a:highlight>
                  <a:srgbClr val="FF0000"/>
                </a:highlight>
              </a:rPr>
              <a:t>ое</a:t>
            </a:r>
            <a:r>
              <a:rPr lang="en-US" sz="1250" dirty="0"/>
              <a:t> </a:t>
            </a:r>
            <a:r>
              <a:rPr lang="en-US" sz="1250" dirty="0" err="1"/>
              <a:t>верн</a:t>
            </a:r>
            <a:r>
              <a:rPr lang="en-US" sz="1250" dirty="0" err="1">
                <a:highlight>
                  <a:srgbClr val="FF0000"/>
                </a:highlight>
              </a:rPr>
              <a:t>ом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при</a:t>
            </a:r>
            <a:r>
              <a:rPr lang="en-US" sz="1250" dirty="0" err="1"/>
              <a:t>волюцию</a:t>
            </a:r>
            <a:r>
              <a:rPr lang="en-US" sz="1250" dirty="0"/>
              <a:t>. </a:t>
            </a:r>
          </a:p>
        </p:txBody>
      </p:sp>
      <p:sp>
        <p:nvSpPr>
          <p:cNvPr id="52" name="Arrow: Chevron 51">
            <a:extLst>
              <a:ext uri="{FF2B5EF4-FFF2-40B4-BE49-F238E27FC236}">
                <a16:creationId xmlns:a16="http://schemas.microsoft.com/office/drawing/2014/main" id="{585542CD-8410-48A7-8EE9-47AE474E5DF1}"/>
              </a:ext>
            </a:extLst>
          </p:cNvPr>
          <p:cNvSpPr/>
          <p:nvPr/>
        </p:nvSpPr>
        <p:spPr>
          <a:xfrm>
            <a:off x="6875133" y="4143144"/>
            <a:ext cx="2202982" cy="29491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tiny</a:t>
            </a:r>
            <a:endParaRPr lang="en-US" sz="10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FEF8BA0D-2862-4236-973F-27E9B6C7AB8F}"/>
              </a:ext>
            </a:extLst>
          </p:cNvPr>
          <p:cNvSpPr/>
          <p:nvPr/>
        </p:nvSpPr>
        <p:spPr>
          <a:xfrm>
            <a:off x="6875133" y="3536118"/>
            <a:ext cx="2202982" cy="294912"/>
          </a:xfrm>
          <a:prstGeom prst="chevron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small</a:t>
            </a:r>
            <a:endParaRPr lang="en-US" sz="105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98D87EB-26B1-4689-8FD3-BF6D3829CF1E}"/>
              </a:ext>
            </a:extLst>
          </p:cNvPr>
          <p:cNvCxnSpPr/>
          <p:nvPr/>
        </p:nvCxnSpPr>
        <p:spPr>
          <a:xfrm>
            <a:off x="52154" y="3486150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BD510F2-68FA-4AF4-A7E3-8D885E71028E}"/>
              </a:ext>
            </a:extLst>
          </p:cNvPr>
          <p:cNvCxnSpPr/>
          <p:nvPr/>
        </p:nvCxnSpPr>
        <p:spPr>
          <a:xfrm>
            <a:off x="52154" y="4095750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Graphic 59" descr="Bullseye with solid fill">
            <a:extLst>
              <a:ext uri="{FF2B5EF4-FFF2-40B4-BE49-F238E27FC236}">
                <a16:creationId xmlns:a16="http://schemas.microsoft.com/office/drawing/2014/main" id="{989FD6AB-A455-4C71-A669-E809B00DE5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1395" y="1298795"/>
            <a:ext cx="255840" cy="255840"/>
          </a:xfrm>
          <a:prstGeom prst="rect">
            <a:avLst/>
          </a:prstGeom>
        </p:spPr>
      </p:pic>
      <p:pic>
        <p:nvPicPr>
          <p:cNvPr id="61" name="Graphic 60" descr="Bullseye with solid fill">
            <a:extLst>
              <a:ext uri="{FF2B5EF4-FFF2-40B4-BE49-F238E27FC236}">
                <a16:creationId xmlns:a16="http://schemas.microsoft.com/office/drawing/2014/main" id="{206DC8B5-808A-4CE6-A37B-714D1B9DA4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1320" y="1848416"/>
            <a:ext cx="255840" cy="2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0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Text"/>
          <p:cNvSpPr txBox="1"/>
          <p:nvPr/>
        </p:nvSpPr>
        <p:spPr>
          <a:xfrm>
            <a:off x="2255520" y="1833086"/>
            <a:ext cx="4632960" cy="14773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Благодарим за внимание</a:t>
            </a:r>
            <a:r>
              <a:rPr lang="en-US" sz="4800" b="1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1846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Custom 84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9525">
          <a:noFill/>
          <a:round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Blank Design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16806</TotalTime>
  <Words>720</Words>
  <Application>Microsoft Office PowerPoint</Application>
  <PresentationFormat>On-screen Show (16:9)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Consolas</vt:lpstr>
      <vt:lpstr>Roboto</vt:lpstr>
      <vt:lpstr>Wingdings</vt:lpstr>
      <vt:lpstr>Default Theme</vt:lpstr>
      <vt:lpstr>Blank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High Tech</dc:creator>
  <cp:lastModifiedBy>Dr</cp:lastModifiedBy>
  <cp:revision>1826</cp:revision>
  <dcterms:created xsi:type="dcterms:W3CDTF">2015-09-08T18:46:55Z</dcterms:created>
  <dcterms:modified xsi:type="dcterms:W3CDTF">2025-04-24T14:17:59Z</dcterms:modified>
</cp:coreProperties>
</file>